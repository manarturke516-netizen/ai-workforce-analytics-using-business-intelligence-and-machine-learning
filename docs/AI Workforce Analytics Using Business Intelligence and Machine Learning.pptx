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9"/>
  </p:notesMasterIdLst>
  <p:sldIdLst>
    <p:sldId id="256" r:id="rId2"/>
    <p:sldId id="257" r:id="rId3"/>
    <p:sldId id="258" r:id="rId4"/>
    <p:sldId id="259" r:id="rId5"/>
    <p:sldId id="260" r:id="rId6"/>
    <p:sldId id="261" r:id="rId7"/>
    <p:sldId id="272"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0" d="100"/>
          <a:sy n="100" d="100"/>
        </p:scale>
        <p:origin x="34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0392-F0A8-4AFF-9E6D-D220951DBFC8}"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A55104-8DF6-4B70-938E-278B602D2F28}" type="slidenum">
              <a:rPr lang="en-US" smtClean="0"/>
              <a:t>‹#›</a:t>
            </a:fld>
            <a:endParaRPr lang="en-US"/>
          </a:p>
        </p:txBody>
      </p:sp>
    </p:spTree>
    <p:extLst>
      <p:ext uri="{BB962C8B-B14F-4D97-AF65-F5344CB8AC3E}">
        <p14:creationId xmlns:p14="http://schemas.microsoft.com/office/powerpoint/2010/main" val="330105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A55104-8DF6-4B70-938E-278B602D2F28}" type="slidenum">
              <a:rPr lang="en-US" smtClean="0"/>
              <a:t>5</a:t>
            </a:fld>
            <a:endParaRPr lang="en-US"/>
          </a:p>
        </p:txBody>
      </p:sp>
    </p:spTree>
    <p:extLst>
      <p:ext uri="{BB962C8B-B14F-4D97-AF65-F5344CB8AC3E}">
        <p14:creationId xmlns:p14="http://schemas.microsoft.com/office/powerpoint/2010/main" val="2738632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D109-A73E-CA2A-8DD3-7EC4D8B3A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CF234-88EB-D4AD-F175-DB25438DB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785E7-0D81-2784-7818-C01E5CEA16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D819B5-742C-A4B6-DE9B-A187B18D6FBD}"/>
              </a:ext>
            </a:extLst>
          </p:cNvPr>
          <p:cNvSpPr>
            <a:spLocks noGrp="1"/>
          </p:cNvSpPr>
          <p:nvPr>
            <p:ph type="sldNum" sz="quarter" idx="5"/>
          </p:nvPr>
        </p:nvSpPr>
        <p:spPr/>
        <p:txBody>
          <a:bodyPr/>
          <a:lstStyle/>
          <a:p>
            <a:fld id="{A5A55104-8DF6-4B70-938E-278B602D2F28}" type="slidenum">
              <a:rPr lang="en-US" smtClean="0"/>
              <a:t>6</a:t>
            </a:fld>
            <a:endParaRPr lang="en-US"/>
          </a:p>
        </p:txBody>
      </p:sp>
    </p:spTree>
    <p:extLst>
      <p:ext uri="{BB962C8B-B14F-4D97-AF65-F5344CB8AC3E}">
        <p14:creationId xmlns:p14="http://schemas.microsoft.com/office/powerpoint/2010/main" val="2858649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AD56-A3DE-BEFD-337B-0D7B91183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7E971-FD4E-6DA6-EA5C-0A3EDE4E2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8C9DF-C9BB-D793-3F2B-2FE2EB9690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CC6328-9885-2DDC-4E95-899544EF0D89}"/>
              </a:ext>
            </a:extLst>
          </p:cNvPr>
          <p:cNvSpPr>
            <a:spLocks noGrp="1"/>
          </p:cNvSpPr>
          <p:nvPr>
            <p:ph type="sldNum" sz="quarter" idx="5"/>
          </p:nvPr>
        </p:nvSpPr>
        <p:spPr/>
        <p:txBody>
          <a:bodyPr/>
          <a:lstStyle/>
          <a:p>
            <a:fld id="{A5A55104-8DF6-4B70-938E-278B602D2F28}" type="slidenum">
              <a:rPr lang="en-US" smtClean="0"/>
              <a:t>7</a:t>
            </a:fld>
            <a:endParaRPr lang="en-US"/>
          </a:p>
        </p:txBody>
      </p:sp>
    </p:spTree>
    <p:extLst>
      <p:ext uri="{BB962C8B-B14F-4D97-AF65-F5344CB8AC3E}">
        <p14:creationId xmlns:p14="http://schemas.microsoft.com/office/powerpoint/2010/main" val="4252753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9B231-DE75-B3E6-5238-6D284994E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D3EB9-0DA7-97C9-404E-C4372B987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9EC7-AE99-3EE4-6540-CA07C43B3D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D9F955-FB58-0C1F-5239-C9F742AF96E4}"/>
              </a:ext>
            </a:extLst>
          </p:cNvPr>
          <p:cNvSpPr>
            <a:spLocks noGrp="1"/>
          </p:cNvSpPr>
          <p:nvPr>
            <p:ph type="sldNum" sz="quarter" idx="5"/>
          </p:nvPr>
        </p:nvSpPr>
        <p:spPr/>
        <p:txBody>
          <a:bodyPr/>
          <a:lstStyle/>
          <a:p>
            <a:fld id="{A5A55104-8DF6-4B70-938E-278B602D2F28}" type="slidenum">
              <a:rPr lang="en-US" smtClean="0"/>
              <a:t>8</a:t>
            </a:fld>
            <a:endParaRPr lang="en-US"/>
          </a:p>
        </p:txBody>
      </p:sp>
    </p:spTree>
    <p:extLst>
      <p:ext uri="{BB962C8B-B14F-4D97-AF65-F5344CB8AC3E}">
        <p14:creationId xmlns:p14="http://schemas.microsoft.com/office/powerpoint/2010/main" val="3879658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EDA3C-84B9-458E-5C8B-4796B2953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159FC-6B02-3056-0FE5-3CD79DC26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7E383-D868-4733-E418-AA3B007D2A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57AB9E-B8EB-16CD-373F-CDBDA550F603}"/>
              </a:ext>
            </a:extLst>
          </p:cNvPr>
          <p:cNvSpPr>
            <a:spLocks noGrp="1"/>
          </p:cNvSpPr>
          <p:nvPr>
            <p:ph type="sldNum" sz="quarter" idx="5"/>
          </p:nvPr>
        </p:nvSpPr>
        <p:spPr/>
        <p:txBody>
          <a:bodyPr/>
          <a:lstStyle/>
          <a:p>
            <a:fld id="{A5A55104-8DF6-4B70-938E-278B602D2F28}" type="slidenum">
              <a:rPr lang="en-US" smtClean="0"/>
              <a:t>9</a:t>
            </a:fld>
            <a:endParaRPr lang="en-US"/>
          </a:p>
        </p:txBody>
      </p:sp>
    </p:spTree>
    <p:extLst>
      <p:ext uri="{BB962C8B-B14F-4D97-AF65-F5344CB8AC3E}">
        <p14:creationId xmlns:p14="http://schemas.microsoft.com/office/powerpoint/2010/main" val="1844980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DA192-E079-EAD1-053B-9AB5BAC19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F6753-564E-7607-049D-0D44DC64D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97B78-51CF-8832-173D-7E93FB1036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97C54-22CD-B348-C253-95D841BFDE48}"/>
              </a:ext>
            </a:extLst>
          </p:cNvPr>
          <p:cNvSpPr>
            <a:spLocks noGrp="1"/>
          </p:cNvSpPr>
          <p:nvPr>
            <p:ph type="sldNum" sz="quarter" idx="5"/>
          </p:nvPr>
        </p:nvSpPr>
        <p:spPr/>
        <p:txBody>
          <a:bodyPr/>
          <a:lstStyle/>
          <a:p>
            <a:fld id="{A5A55104-8DF6-4B70-938E-278B602D2F28}" type="slidenum">
              <a:rPr lang="en-US" smtClean="0"/>
              <a:t>10</a:t>
            </a:fld>
            <a:endParaRPr lang="en-US"/>
          </a:p>
        </p:txBody>
      </p:sp>
    </p:spTree>
    <p:extLst>
      <p:ext uri="{BB962C8B-B14F-4D97-AF65-F5344CB8AC3E}">
        <p14:creationId xmlns:p14="http://schemas.microsoft.com/office/powerpoint/2010/main" val="3923742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D4C16-DC4D-7F7C-6E31-DAB0B9989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95434-AF09-62D6-0E10-82362D379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FE5CA-2AF9-5F7E-8091-335698B07B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7B0370-4A71-77A3-E268-4329D16382CF}"/>
              </a:ext>
            </a:extLst>
          </p:cNvPr>
          <p:cNvSpPr>
            <a:spLocks noGrp="1"/>
          </p:cNvSpPr>
          <p:nvPr>
            <p:ph type="sldNum" sz="quarter" idx="5"/>
          </p:nvPr>
        </p:nvSpPr>
        <p:spPr/>
        <p:txBody>
          <a:bodyPr/>
          <a:lstStyle/>
          <a:p>
            <a:fld id="{A5A55104-8DF6-4B70-938E-278B602D2F28}" type="slidenum">
              <a:rPr lang="en-US" smtClean="0"/>
              <a:t>11</a:t>
            </a:fld>
            <a:endParaRPr lang="en-US"/>
          </a:p>
        </p:txBody>
      </p:sp>
    </p:spTree>
    <p:extLst>
      <p:ext uri="{BB962C8B-B14F-4D97-AF65-F5344CB8AC3E}">
        <p14:creationId xmlns:p14="http://schemas.microsoft.com/office/powerpoint/2010/main" val="4241492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6F2F5-E82B-DED3-588F-3D79E9C00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B2527-60AE-7B4A-799E-B88736086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7667C-AF3E-9BE1-18F0-BE244EF72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DAFD7D-4269-C865-2D0D-C4068E57D6C5}"/>
              </a:ext>
            </a:extLst>
          </p:cNvPr>
          <p:cNvSpPr>
            <a:spLocks noGrp="1"/>
          </p:cNvSpPr>
          <p:nvPr>
            <p:ph type="sldNum" sz="quarter" idx="5"/>
          </p:nvPr>
        </p:nvSpPr>
        <p:spPr/>
        <p:txBody>
          <a:bodyPr/>
          <a:lstStyle/>
          <a:p>
            <a:fld id="{A5A55104-8DF6-4B70-938E-278B602D2F28}" type="slidenum">
              <a:rPr lang="en-US" smtClean="0"/>
              <a:t>12</a:t>
            </a:fld>
            <a:endParaRPr lang="en-US"/>
          </a:p>
        </p:txBody>
      </p:sp>
    </p:spTree>
    <p:extLst>
      <p:ext uri="{BB962C8B-B14F-4D97-AF65-F5344CB8AC3E}">
        <p14:creationId xmlns:p14="http://schemas.microsoft.com/office/powerpoint/2010/main" val="1879527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DDC5-1B2B-195F-75B0-86A4E5AD4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D01D0-5214-FC07-CCF4-DB68A70F6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22C9-5F97-9206-3344-C5053807AB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E496B1-E903-2D6A-FD11-0F3B5FBF188E}"/>
              </a:ext>
            </a:extLst>
          </p:cNvPr>
          <p:cNvSpPr>
            <a:spLocks noGrp="1"/>
          </p:cNvSpPr>
          <p:nvPr>
            <p:ph type="sldNum" sz="quarter" idx="5"/>
          </p:nvPr>
        </p:nvSpPr>
        <p:spPr/>
        <p:txBody>
          <a:bodyPr/>
          <a:lstStyle/>
          <a:p>
            <a:fld id="{A5A55104-8DF6-4B70-938E-278B602D2F28}" type="slidenum">
              <a:rPr lang="en-US" smtClean="0"/>
              <a:t>13</a:t>
            </a:fld>
            <a:endParaRPr lang="en-US"/>
          </a:p>
        </p:txBody>
      </p:sp>
    </p:spTree>
    <p:extLst>
      <p:ext uri="{BB962C8B-B14F-4D97-AF65-F5344CB8AC3E}">
        <p14:creationId xmlns:p14="http://schemas.microsoft.com/office/powerpoint/2010/main" val="3834621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7319D-7765-B18C-B43D-805C62C7A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A82E9-AD21-B64E-EAFC-AEB545925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437DB-4E2B-9969-278F-0804E293E7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2C135B-B095-BB1C-0294-AE2849358C61}"/>
              </a:ext>
            </a:extLst>
          </p:cNvPr>
          <p:cNvSpPr>
            <a:spLocks noGrp="1"/>
          </p:cNvSpPr>
          <p:nvPr>
            <p:ph type="sldNum" sz="quarter" idx="5"/>
          </p:nvPr>
        </p:nvSpPr>
        <p:spPr/>
        <p:txBody>
          <a:bodyPr/>
          <a:lstStyle/>
          <a:p>
            <a:fld id="{A5A55104-8DF6-4B70-938E-278B602D2F28}" type="slidenum">
              <a:rPr lang="en-US" smtClean="0"/>
              <a:t>14</a:t>
            </a:fld>
            <a:endParaRPr lang="en-US"/>
          </a:p>
        </p:txBody>
      </p:sp>
    </p:spTree>
    <p:extLst>
      <p:ext uri="{BB962C8B-B14F-4D97-AF65-F5344CB8AC3E}">
        <p14:creationId xmlns:p14="http://schemas.microsoft.com/office/powerpoint/2010/main" val="3423610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47ED9-65F8-DEC8-3424-CC93115BA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873007-5752-D19D-931F-D0B32186A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29BB9-8E63-5F43-06A5-C68FA77F1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F193FC-5488-88CE-FFC5-8B78B1CC3297}"/>
              </a:ext>
            </a:extLst>
          </p:cNvPr>
          <p:cNvSpPr>
            <a:spLocks noGrp="1"/>
          </p:cNvSpPr>
          <p:nvPr>
            <p:ph type="sldNum" sz="quarter" idx="5"/>
          </p:nvPr>
        </p:nvSpPr>
        <p:spPr/>
        <p:txBody>
          <a:bodyPr/>
          <a:lstStyle/>
          <a:p>
            <a:fld id="{A5A55104-8DF6-4B70-938E-278B602D2F28}" type="slidenum">
              <a:rPr lang="en-US" smtClean="0"/>
              <a:t>15</a:t>
            </a:fld>
            <a:endParaRPr lang="en-US"/>
          </a:p>
        </p:txBody>
      </p:sp>
    </p:spTree>
    <p:extLst>
      <p:ext uri="{BB962C8B-B14F-4D97-AF65-F5344CB8AC3E}">
        <p14:creationId xmlns:p14="http://schemas.microsoft.com/office/powerpoint/2010/main" val="1660654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CBCB-7C8F-35D9-6967-4A146F4E8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A83B6-BBDC-7665-52F4-41322CA2B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C3490-CBBA-9D5C-9185-2A93B66F5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97F765-9253-3D2D-12BC-81450B482EBA}"/>
              </a:ext>
            </a:extLst>
          </p:cNvPr>
          <p:cNvSpPr>
            <a:spLocks noGrp="1"/>
          </p:cNvSpPr>
          <p:nvPr>
            <p:ph type="sldNum" sz="quarter" idx="5"/>
          </p:nvPr>
        </p:nvSpPr>
        <p:spPr/>
        <p:txBody>
          <a:bodyPr/>
          <a:lstStyle/>
          <a:p>
            <a:fld id="{A5A55104-8DF6-4B70-938E-278B602D2F28}" type="slidenum">
              <a:rPr lang="en-US" smtClean="0"/>
              <a:t>16</a:t>
            </a:fld>
            <a:endParaRPr lang="en-US"/>
          </a:p>
        </p:txBody>
      </p:sp>
    </p:spTree>
    <p:extLst>
      <p:ext uri="{BB962C8B-B14F-4D97-AF65-F5344CB8AC3E}">
        <p14:creationId xmlns:p14="http://schemas.microsoft.com/office/powerpoint/2010/main" val="1771836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6838-AF2A-4933-BB3A-1FF7F2436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132CA-3EFE-E796-4313-ADF08FC84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303A1-0B0C-2282-F90A-574906AE0F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7B8DCA-7C4E-81A7-15F4-4513376C259C}"/>
              </a:ext>
            </a:extLst>
          </p:cNvPr>
          <p:cNvSpPr>
            <a:spLocks noGrp="1"/>
          </p:cNvSpPr>
          <p:nvPr>
            <p:ph type="sldNum" sz="quarter" idx="5"/>
          </p:nvPr>
        </p:nvSpPr>
        <p:spPr/>
        <p:txBody>
          <a:bodyPr/>
          <a:lstStyle/>
          <a:p>
            <a:fld id="{A5A55104-8DF6-4B70-938E-278B602D2F28}" type="slidenum">
              <a:rPr lang="en-US" smtClean="0"/>
              <a:t>17</a:t>
            </a:fld>
            <a:endParaRPr lang="en-US"/>
          </a:p>
        </p:txBody>
      </p:sp>
    </p:spTree>
    <p:extLst>
      <p:ext uri="{BB962C8B-B14F-4D97-AF65-F5344CB8AC3E}">
        <p14:creationId xmlns:p14="http://schemas.microsoft.com/office/powerpoint/2010/main" val="2410595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E01C7-3888-B204-001E-A1430890DF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CE55B0-B213-93F4-C13F-AE3F3CB8B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42DAF6-4E85-0145-C100-41BB662607D3}"/>
              </a:ext>
            </a:extLst>
          </p:cNvPr>
          <p:cNvSpPr>
            <a:spLocks noGrp="1"/>
          </p:cNvSpPr>
          <p:nvPr>
            <p:ph type="dt" sz="half" idx="10"/>
          </p:nvPr>
        </p:nvSpPr>
        <p:spPr/>
        <p:txBody>
          <a:bodyPr/>
          <a:lstStyle/>
          <a:p>
            <a:fld id="{C128FA71-3A18-48C0-980F-4B68F7F63042}" type="datetime1">
              <a:rPr lang="en-US" smtClean="0"/>
              <a:t>5/31/2026</a:t>
            </a:fld>
            <a:endParaRPr lang="en-US"/>
          </a:p>
        </p:txBody>
      </p:sp>
      <p:sp>
        <p:nvSpPr>
          <p:cNvPr id="5" name="Footer Placeholder 4">
            <a:extLst>
              <a:ext uri="{FF2B5EF4-FFF2-40B4-BE49-F238E27FC236}">
                <a16:creationId xmlns:a16="http://schemas.microsoft.com/office/drawing/2014/main" id="{A4267077-ACAC-5E69-BF45-8DD28644DB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FA9E3A-2558-243F-D65F-E5C77AD460E0}"/>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59751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5364D-CB32-0D9C-72A4-B5029CBBD0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148667-9788-83AE-B4FF-42ABA25524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E8D60C-E299-95C4-F67F-41843471EDD3}"/>
              </a:ext>
            </a:extLst>
          </p:cNvPr>
          <p:cNvSpPr>
            <a:spLocks noGrp="1"/>
          </p:cNvSpPr>
          <p:nvPr>
            <p:ph type="dt" sz="half" idx="10"/>
          </p:nvPr>
        </p:nvSpPr>
        <p:spPr/>
        <p:txBody>
          <a:bodyPr/>
          <a:lstStyle/>
          <a:p>
            <a:fld id="{51C1210E-201E-4473-82AC-2466F5386C38}" type="datetime1">
              <a:rPr lang="en-US" smtClean="0"/>
              <a:t>5/31/2026</a:t>
            </a:fld>
            <a:endParaRPr lang="en-US"/>
          </a:p>
        </p:txBody>
      </p:sp>
      <p:sp>
        <p:nvSpPr>
          <p:cNvPr id="5" name="Footer Placeholder 4">
            <a:extLst>
              <a:ext uri="{FF2B5EF4-FFF2-40B4-BE49-F238E27FC236}">
                <a16:creationId xmlns:a16="http://schemas.microsoft.com/office/drawing/2014/main" id="{899030F6-70B2-96EE-FAFE-B8CAA0CB1E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F9A7CD-EBAA-F7DD-0D30-7EC2EA98EF9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38864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9054-4825-B775-E0E9-2A153E9BC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2E7534-6D7D-CB86-9352-6109FB6CB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562D95-31D4-0498-2A0A-F3D02BC63610}"/>
              </a:ext>
            </a:extLst>
          </p:cNvPr>
          <p:cNvSpPr>
            <a:spLocks noGrp="1"/>
          </p:cNvSpPr>
          <p:nvPr>
            <p:ph type="dt" sz="half" idx="10"/>
          </p:nvPr>
        </p:nvSpPr>
        <p:spPr/>
        <p:txBody>
          <a:bodyPr/>
          <a:lstStyle/>
          <a:p>
            <a:fld id="{B01EA198-6CAB-4B8F-B93F-1F9C8C4B6CE7}" type="datetime1">
              <a:rPr lang="en-US" smtClean="0"/>
              <a:t>5/31/2026</a:t>
            </a:fld>
            <a:endParaRPr lang="en-US"/>
          </a:p>
        </p:txBody>
      </p:sp>
      <p:sp>
        <p:nvSpPr>
          <p:cNvPr id="5" name="Footer Placeholder 4">
            <a:extLst>
              <a:ext uri="{FF2B5EF4-FFF2-40B4-BE49-F238E27FC236}">
                <a16:creationId xmlns:a16="http://schemas.microsoft.com/office/drawing/2014/main" id="{F37F7722-EFB2-BD5B-CC54-3AB6E84C59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9E4C36D-F14C-CF7E-9222-FED8D9C2CD5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9027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AA25-FAC8-08AC-2B06-C7382A77FA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F3B53C-76C5-0A2A-FEC4-EACA0FE901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75A43-D7E0-CF28-11CA-C9D6E1888D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D4B54F-65E6-F381-E45B-4F845C0D6D0D}"/>
              </a:ext>
            </a:extLst>
          </p:cNvPr>
          <p:cNvSpPr>
            <a:spLocks noGrp="1"/>
          </p:cNvSpPr>
          <p:nvPr>
            <p:ph type="dt" sz="half" idx="10"/>
          </p:nvPr>
        </p:nvSpPr>
        <p:spPr/>
        <p:txBody>
          <a:bodyPr/>
          <a:lstStyle/>
          <a:p>
            <a:fld id="{CA06041F-4525-44D5-AA4F-332294BF1F56}" type="datetime1">
              <a:rPr lang="en-US" smtClean="0"/>
              <a:t>5/31/2026</a:t>
            </a:fld>
            <a:endParaRPr lang="en-US"/>
          </a:p>
        </p:txBody>
      </p:sp>
      <p:sp>
        <p:nvSpPr>
          <p:cNvPr id="6" name="Footer Placeholder 5">
            <a:extLst>
              <a:ext uri="{FF2B5EF4-FFF2-40B4-BE49-F238E27FC236}">
                <a16:creationId xmlns:a16="http://schemas.microsoft.com/office/drawing/2014/main" id="{F7BD917C-435A-5F5D-713F-5B0DC776E1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E80E57C-79EA-D858-2056-E2071805797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453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D83AA-979C-2F16-CDF1-8FCA83F468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FFCD16-6B97-CAEB-D2A2-52514BEED8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FF21AB-DC4F-845D-2A18-53CE922C9A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A19BA7-594A-1007-71D6-19AC8DB3F7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1BE9D5-5B35-C78B-DF5A-AAC68BB6FB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2D64FB-550E-E7CD-4EA4-B322706DE7EA}"/>
              </a:ext>
            </a:extLst>
          </p:cNvPr>
          <p:cNvSpPr>
            <a:spLocks noGrp="1"/>
          </p:cNvSpPr>
          <p:nvPr>
            <p:ph type="dt" sz="half" idx="10"/>
          </p:nvPr>
        </p:nvSpPr>
        <p:spPr/>
        <p:txBody>
          <a:bodyPr/>
          <a:lstStyle/>
          <a:p>
            <a:fld id="{F9557091-BBDF-4EB9-BA6B-2BB67AC4FC0F}" type="datetime1">
              <a:rPr lang="en-US" smtClean="0"/>
              <a:t>5/31/2026</a:t>
            </a:fld>
            <a:endParaRPr lang="en-US"/>
          </a:p>
        </p:txBody>
      </p:sp>
      <p:sp>
        <p:nvSpPr>
          <p:cNvPr id="8" name="Footer Placeholder 7">
            <a:extLst>
              <a:ext uri="{FF2B5EF4-FFF2-40B4-BE49-F238E27FC236}">
                <a16:creationId xmlns:a16="http://schemas.microsoft.com/office/drawing/2014/main" id="{30DF3478-CCD4-CE2C-380C-525F53FEBE3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02CF0FA-C832-104A-EB52-6D143727E1C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33663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A7B9C-98D1-95E2-D308-D5D5FBC602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551BF9-5BBA-3DB2-0986-028BC11FFCDC}"/>
              </a:ext>
            </a:extLst>
          </p:cNvPr>
          <p:cNvSpPr>
            <a:spLocks noGrp="1"/>
          </p:cNvSpPr>
          <p:nvPr>
            <p:ph type="dt" sz="half" idx="10"/>
          </p:nvPr>
        </p:nvSpPr>
        <p:spPr/>
        <p:txBody>
          <a:bodyPr/>
          <a:lstStyle/>
          <a:p>
            <a:fld id="{2D6B226B-77A6-410C-9796-083F278E0125}" type="datetime1">
              <a:rPr lang="en-US" smtClean="0"/>
              <a:t>5/31/2026</a:t>
            </a:fld>
            <a:endParaRPr lang="en-US"/>
          </a:p>
        </p:txBody>
      </p:sp>
      <p:sp>
        <p:nvSpPr>
          <p:cNvPr id="4" name="Footer Placeholder 3">
            <a:extLst>
              <a:ext uri="{FF2B5EF4-FFF2-40B4-BE49-F238E27FC236}">
                <a16:creationId xmlns:a16="http://schemas.microsoft.com/office/drawing/2014/main" id="{C12EB74A-91A7-DBE1-A815-8CF266070800}"/>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49ABDEB-568A-549B-8913-BE19E7C0D65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8612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5DBBEA-C8B7-AC78-A612-9485EB7A31E4}"/>
              </a:ext>
            </a:extLst>
          </p:cNvPr>
          <p:cNvSpPr>
            <a:spLocks noGrp="1"/>
          </p:cNvSpPr>
          <p:nvPr>
            <p:ph type="dt" sz="half" idx="10"/>
          </p:nvPr>
        </p:nvSpPr>
        <p:spPr/>
        <p:txBody>
          <a:bodyPr/>
          <a:lstStyle/>
          <a:p>
            <a:fld id="{A23A578B-D289-4C40-8593-3D356C49DA58}" type="datetime1">
              <a:rPr lang="en-US" smtClean="0"/>
              <a:t>5/31/2026</a:t>
            </a:fld>
            <a:endParaRPr lang="en-US"/>
          </a:p>
        </p:txBody>
      </p:sp>
      <p:sp>
        <p:nvSpPr>
          <p:cNvPr id="3" name="Footer Placeholder 2">
            <a:extLst>
              <a:ext uri="{FF2B5EF4-FFF2-40B4-BE49-F238E27FC236}">
                <a16:creationId xmlns:a16="http://schemas.microsoft.com/office/drawing/2014/main" id="{A60085D0-59DE-F949-CE98-0B5CD62F3A8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122DCDB-0E43-8C6B-33A0-EAE36230723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492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06575-709A-DF15-9BD2-DD39393058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2D9479-13B1-AD5F-A337-EB0070483C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CD3F1C-85B7-6C35-046C-5A67DA673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C3466D-6EF6-D704-6E31-6B8230728A28}"/>
              </a:ext>
            </a:extLst>
          </p:cNvPr>
          <p:cNvSpPr>
            <a:spLocks noGrp="1"/>
          </p:cNvSpPr>
          <p:nvPr>
            <p:ph type="dt" sz="half" idx="10"/>
          </p:nvPr>
        </p:nvSpPr>
        <p:spPr/>
        <p:txBody>
          <a:bodyPr/>
          <a:lstStyle/>
          <a:p>
            <a:fld id="{713DFAE3-14DB-48A7-A80F-80DDB072CE3D}" type="datetime1">
              <a:rPr lang="en-US" smtClean="0"/>
              <a:t>5/31/2026</a:t>
            </a:fld>
            <a:endParaRPr lang="en-US"/>
          </a:p>
        </p:txBody>
      </p:sp>
      <p:sp>
        <p:nvSpPr>
          <p:cNvPr id="6" name="Footer Placeholder 5">
            <a:extLst>
              <a:ext uri="{FF2B5EF4-FFF2-40B4-BE49-F238E27FC236}">
                <a16:creationId xmlns:a16="http://schemas.microsoft.com/office/drawing/2014/main" id="{E9D9F62B-131B-65B9-98FE-8D99E6CDB3C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8DE94B7-E135-9A2A-427E-4BC22A26EF5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4612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899E-9EF4-2E66-3838-45EC9F5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C499F4-8B2F-51D4-B190-07C3F75717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8B3432-2ADD-A328-4FFF-E0CF396EB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C3575-EB62-D55D-52CF-178C9433D134}"/>
              </a:ext>
            </a:extLst>
          </p:cNvPr>
          <p:cNvSpPr>
            <a:spLocks noGrp="1"/>
          </p:cNvSpPr>
          <p:nvPr>
            <p:ph type="dt" sz="half" idx="10"/>
          </p:nvPr>
        </p:nvSpPr>
        <p:spPr/>
        <p:txBody>
          <a:bodyPr/>
          <a:lstStyle/>
          <a:p>
            <a:fld id="{92C5EAEF-6478-4102-8F5D-A5FE9FC97ACB}" type="datetime1">
              <a:rPr lang="en-US" smtClean="0"/>
              <a:t>5/31/2026</a:t>
            </a:fld>
            <a:endParaRPr lang="en-US"/>
          </a:p>
        </p:txBody>
      </p:sp>
      <p:sp>
        <p:nvSpPr>
          <p:cNvPr id="6" name="Footer Placeholder 5">
            <a:extLst>
              <a:ext uri="{FF2B5EF4-FFF2-40B4-BE49-F238E27FC236}">
                <a16:creationId xmlns:a16="http://schemas.microsoft.com/office/drawing/2014/main" id="{084E0FF1-0BA1-BB72-EAEB-9DBA347006C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1D01F93-32CC-10DA-924D-0B20DAD5F824}"/>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2448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6845B-6A7F-794D-85D6-9610F9414E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711F07-EE09-E8BF-0642-452E947F9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8AEC58-3C55-0ADF-AFEA-AC40E414B5FF}"/>
              </a:ext>
            </a:extLst>
          </p:cNvPr>
          <p:cNvSpPr>
            <a:spLocks noGrp="1"/>
          </p:cNvSpPr>
          <p:nvPr>
            <p:ph type="dt" sz="half" idx="10"/>
          </p:nvPr>
        </p:nvSpPr>
        <p:spPr/>
        <p:txBody>
          <a:bodyPr/>
          <a:lstStyle/>
          <a:p>
            <a:fld id="{7104EDB3-C0E8-45F8-9E1D-1B6C8D1880C0}" type="datetime1">
              <a:rPr lang="en-US" smtClean="0"/>
              <a:t>5/31/2026</a:t>
            </a:fld>
            <a:endParaRPr lang="en-US"/>
          </a:p>
        </p:txBody>
      </p:sp>
      <p:sp>
        <p:nvSpPr>
          <p:cNvPr id="5" name="Footer Placeholder 4">
            <a:extLst>
              <a:ext uri="{FF2B5EF4-FFF2-40B4-BE49-F238E27FC236}">
                <a16:creationId xmlns:a16="http://schemas.microsoft.com/office/drawing/2014/main" id="{3F68A692-4F3B-6777-C079-A04C3B6127C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F7DFE1B-8F51-3D36-4CB8-8978312039D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21066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BE19EB-552C-AE65-24D4-4CB50E3879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F63139-0F2D-3366-17DB-0F01244365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FFF9D-6A13-15FB-2780-E8B4FAC2F913}"/>
              </a:ext>
            </a:extLst>
          </p:cNvPr>
          <p:cNvSpPr>
            <a:spLocks noGrp="1"/>
          </p:cNvSpPr>
          <p:nvPr>
            <p:ph type="dt" sz="half" idx="10"/>
          </p:nvPr>
        </p:nvSpPr>
        <p:spPr/>
        <p:txBody>
          <a:bodyPr/>
          <a:lstStyle/>
          <a:p>
            <a:fld id="{9CF0EC4B-54ED-4041-B552-9BA760FA3DBA}" type="datetime1">
              <a:rPr lang="en-US" smtClean="0"/>
              <a:t>5/31/2026</a:t>
            </a:fld>
            <a:endParaRPr lang="en-US"/>
          </a:p>
        </p:txBody>
      </p:sp>
      <p:sp>
        <p:nvSpPr>
          <p:cNvPr id="5" name="Footer Placeholder 4">
            <a:extLst>
              <a:ext uri="{FF2B5EF4-FFF2-40B4-BE49-F238E27FC236}">
                <a16:creationId xmlns:a16="http://schemas.microsoft.com/office/drawing/2014/main" id="{6CBF215E-CED8-08C0-972E-0C39ABE218E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8056EA-5047-6848-9F8F-2AF91A85313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77314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919F09-FA3F-A5D8-0E5B-603DC8EF40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917890-1E1B-748A-7321-EE151DA62C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33941-19BE-CD0B-EF60-F6A607361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F45AC6-C491-4585-A584-9CE2AF7D5500}" type="datetime1">
              <a:rPr lang="en-US" smtClean="0"/>
              <a:t>5/31/2026</a:t>
            </a:fld>
            <a:endParaRPr lang="en-US"/>
          </a:p>
        </p:txBody>
      </p:sp>
      <p:sp>
        <p:nvSpPr>
          <p:cNvPr id="5" name="Footer Placeholder 4">
            <a:extLst>
              <a:ext uri="{FF2B5EF4-FFF2-40B4-BE49-F238E27FC236}">
                <a16:creationId xmlns:a16="http://schemas.microsoft.com/office/drawing/2014/main" id="{74389D72-A4DE-7E65-ADCE-6E0719A772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F5686BA0-1713-CC9A-6AC0-205785452B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873870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C440CB-8725-A772-3B46-AB494390DC0C}"/>
              </a:ext>
            </a:extLst>
          </p:cNvPr>
          <p:cNvPicPr>
            <a:picLocks noChangeAspect="1"/>
          </p:cNvPicPr>
          <p:nvPr/>
        </p:nvPicPr>
        <p:blipFill>
          <a:blip r:embed="rId2"/>
          <a:srcRect r="3112" b="1"/>
          <a:stretch>
            <a:fillRect/>
          </a:stretch>
        </p:blipFill>
        <p:spPr>
          <a:xfrm>
            <a:off x="20" y="10"/>
            <a:ext cx="12191980" cy="6857990"/>
          </a:xfrm>
          <a:prstGeom prst="rect">
            <a:avLst/>
          </a:prstGeom>
        </p:spPr>
      </p:pic>
    </p:spTree>
    <p:extLst>
      <p:ext uri="{BB962C8B-B14F-4D97-AF65-F5344CB8AC3E}">
        <p14:creationId xmlns:p14="http://schemas.microsoft.com/office/powerpoint/2010/main" val="58572501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EE8C70-D03E-8625-B3EF-5EBF8878C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4073" y="3529957"/>
            <a:ext cx="2853363" cy="2461268"/>
          </a:xfrm>
          <a:prstGeom prst="rect">
            <a:avLst/>
          </a:prstGeom>
        </p:spPr>
      </p:pic>
      <p:pic>
        <p:nvPicPr>
          <p:cNvPr id="4" name="Picture 3">
            <a:extLst>
              <a:ext uri="{FF2B5EF4-FFF2-40B4-BE49-F238E27FC236}">
                <a16:creationId xmlns:a16="http://schemas.microsoft.com/office/drawing/2014/main" id="{6CC944EB-62CD-F408-3B0A-CEE9CA87124D}"/>
              </a:ext>
            </a:extLst>
          </p:cNvPr>
          <p:cNvPicPr>
            <a:picLocks noChangeAspect="1"/>
          </p:cNvPicPr>
          <p:nvPr/>
        </p:nvPicPr>
        <p:blipFill>
          <a:blip r:embed="rId3"/>
          <a:stretch>
            <a:fillRect/>
          </a:stretch>
        </p:blipFill>
        <p:spPr>
          <a:xfrm>
            <a:off x="8865357" y="666835"/>
            <a:ext cx="2470793" cy="24707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1766EBA3-5F35-B653-C36E-737153FBE1F3}"/>
              </a:ext>
            </a:extLst>
          </p:cNvPr>
          <p:cNvSpPr txBox="1"/>
          <p:nvPr/>
        </p:nvSpPr>
        <p:spPr>
          <a:xfrm>
            <a:off x="1118225" y="666835"/>
            <a:ext cx="6097248" cy="5755422"/>
          </a:xfrm>
          <a:prstGeom prst="rect">
            <a:avLst/>
          </a:prstGeom>
          <a:noFill/>
        </p:spPr>
        <p:txBody>
          <a:bodyPr wrap="square">
            <a:spAutoFit/>
          </a:bodyPr>
          <a:lstStyle/>
          <a:p>
            <a:pPr>
              <a:buNone/>
            </a:pPr>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Problem</a:t>
            </a:r>
          </a:p>
          <a:p>
            <a:pPr>
              <a:buNone/>
            </a:pPr>
            <a:r>
              <a:rPr lang="en-US" sz="1600" dirty="0">
                <a:latin typeface="Abadi ExtraLight" panose="020B0204020104020204" pitchFamily="34" charset="0"/>
              </a:rPr>
              <a:t>Organizations face challenges in understanding how AI adoption affects employees, including burnout, satisfaction, productivity, and attrition risk.</a:t>
            </a:r>
          </a:p>
          <a:p>
            <a:pPr>
              <a:buNone/>
            </a:pPr>
            <a:endParaRPr lang="en-US" dirty="0">
              <a:latin typeface="Abadi ExtraLight" panose="020B0204020104020204" pitchFamily="34" charset="0"/>
            </a:endParaRPr>
          </a:p>
          <a:p>
            <a:pPr>
              <a:buNone/>
            </a:pPr>
            <a:endParaRPr lang="en-US" dirty="0">
              <a:latin typeface="Abadi ExtraLight" panose="020B0204020104020204" pitchFamily="34" charset="0"/>
            </a:endParaRPr>
          </a:p>
          <a:p>
            <a:pPr>
              <a:buNone/>
            </a:pPr>
            <a:endParaRPr lang="en-US" dirty="0">
              <a:latin typeface="Abadi ExtraLight" panose="020B0204020104020204" pitchFamily="34" charset="0"/>
            </a:endParaRPr>
          </a:p>
          <a:p>
            <a:pPr>
              <a:buNone/>
            </a:pPr>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Goals &amp; Objectives</a:t>
            </a:r>
          </a:p>
          <a:p>
            <a:pPr>
              <a:buNone/>
            </a:pPr>
            <a:endParaRPr lang="en-US" b="1" dirty="0">
              <a:solidFill>
                <a:schemeClr val="accent2">
                  <a:lumMod val="50000"/>
                </a:schemeClr>
              </a:solidFill>
              <a:latin typeface="Abadi ExtraLight" panose="020B0204020104020204" pitchFamily="34" charset="0"/>
            </a:endParaRPr>
          </a:p>
          <a:p>
            <a:pPr>
              <a:buNone/>
            </a:pPr>
            <a:r>
              <a:rPr lang="en-US" sz="20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Goal</a:t>
            </a:r>
            <a:endParaRPr lang="en-US"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pPr>
              <a:buNone/>
            </a:pPr>
            <a:r>
              <a:rPr lang="en-US" sz="1600" dirty="0">
                <a:latin typeface="Abadi ExtraLight" panose="020B0204020104020204" pitchFamily="34" charset="0"/>
              </a:rPr>
              <a:t>Use Business Intelligence and Machine Learning to analyze workforce behavior and predict employee attrition risk.</a:t>
            </a:r>
          </a:p>
          <a:p>
            <a:pPr>
              <a:buNone/>
            </a:pPr>
            <a:endParaRPr lang="en-US" dirty="0">
              <a:solidFill>
                <a:schemeClr val="accent2">
                  <a:lumMod val="50000"/>
                </a:schemeClr>
              </a:solidFill>
              <a:latin typeface="Abadi ExtraLight" panose="020B0204020104020204" pitchFamily="34" charset="0"/>
            </a:endParaRPr>
          </a:p>
          <a:p>
            <a:r>
              <a:rPr lang="en-US" sz="20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Project Objectives</a:t>
            </a:r>
          </a:p>
          <a:p>
            <a:pPr marL="285750" indent="-285750">
              <a:buFont typeface="Courier New" panose="02070309020205020404" pitchFamily="49" charset="0"/>
              <a:buChar char="o"/>
            </a:pPr>
            <a:r>
              <a:rPr lang="en-US" sz="1600" dirty="0">
                <a:latin typeface="Abadi ExtraLight" panose="020B0204020104020204" pitchFamily="34" charset="0"/>
              </a:rPr>
              <a:t>Analyze employee behavior and workforce performance. </a:t>
            </a:r>
          </a:p>
          <a:p>
            <a:pPr marL="285750" indent="-285750">
              <a:buFont typeface="Courier New" panose="02070309020205020404" pitchFamily="49" charset="0"/>
              <a:buChar char="o"/>
            </a:pPr>
            <a:r>
              <a:rPr lang="en-US" sz="1600" dirty="0">
                <a:latin typeface="Abadi ExtraLight" panose="020B0204020104020204" pitchFamily="34" charset="0"/>
              </a:rPr>
              <a:t>Identify factors affecting attrition risk. </a:t>
            </a:r>
          </a:p>
          <a:p>
            <a:pPr marL="285750" indent="-285750">
              <a:buFont typeface="Courier New" panose="02070309020205020404" pitchFamily="49" charset="0"/>
              <a:buChar char="o"/>
            </a:pPr>
            <a:r>
              <a:rPr lang="en-US" sz="1600" dirty="0">
                <a:latin typeface="Abadi ExtraLight" panose="020B0204020104020204" pitchFamily="34" charset="0"/>
              </a:rPr>
              <a:t>Predict employee attrition using machine learning. </a:t>
            </a:r>
          </a:p>
          <a:p>
            <a:pPr marL="285750" indent="-285750">
              <a:buFont typeface="Courier New" panose="02070309020205020404" pitchFamily="49" charset="0"/>
              <a:buChar char="o"/>
            </a:pPr>
            <a:r>
              <a:rPr lang="en-US" sz="1600" dirty="0">
                <a:latin typeface="Abadi ExtraLight" panose="020B0204020104020204" pitchFamily="34" charset="0"/>
              </a:rPr>
              <a:t>Segment employees using clustering. </a:t>
            </a:r>
          </a:p>
          <a:p>
            <a:pPr marL="285750" indent="-285750">
              <a:buFont typeface="Courier New" panose="02070309020205020404" pitchFamily="49" charset="0"/>
              <a:buChar char="o"/>
            </a:pPr>
            <a:r>
              <a:rPr lang="en-US" sz="1600" dirty="0">
                <a:latin typeface="Abadi ExtraLight" panose="020B0204020104020204" pitchFamily="34" charset="0"/>
              </a:rPr>
              <a:t>Develop interactive Power BI dashboards. </a:t>
            </a:r>
          </a:p>
          <a:p>
            <a:pPr marL="285750" indent="-285750">
              <a:buFont typeface="Courier New" panose="02070309020205020404" pitchFamily="49" charset="0"/>
              <a:buChar char="o"/>
            </a:pPr>
            <a:r>
              <a:rPr lang="en-US" sz="1600" dirty="0">
                <a:latin typeface="Abadi ExtraLight" panose="020B0204020104020204" pitchFamily="34" charset="0"/>
              </a:rPr>
              <a:t>Support data-driven HR decision-making.</a:t>
            </a:r>
          </a:p>
          <a:p>
            <a:pPr>
              <a:buNone/>
            </a:pPr>
            <a:endParaRPr lang="en-US" dirty="0">
              <a:solidFill>
                <a:schemeClr val="accent2">
                  <a:lumMod val="50000"/>
                </a:schemeClr>
              </a:solidFill>
              <a:latin typeface="Abadi ExtraLight" panose="020B0204020104020204" pitchFamily="34" charset="0"/>
            </a:endParaRPr>
          </a:p>
        </p:txBody>
      </p:sp>
      <p:cxnSp>
        <p:nvCxnSpPr>
          <p:cNvPr id="8" name="Straight Connector 7">
            <a:extLst>
              <a:ext uri="{FF2B5EF4-FFF2-40B4-BE49-F238E27FC236}">
                <a16:creationId xmlns:a16="http://schemas.microsoft.com/office/drawing/2014/main" id="{1DE35F98-DC4A-5A8A-6BA7-645197406B72}"/>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CDCCC2F-26EE-C383-BF2D-85A7EFF7E594}"/>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4A1E6A-5DA3-1E8D-C518-012BB9B874A8}"/>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D1707AC-9CDE-1867-FBC7-5DDE2F591E2A}"/>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29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A31F0-E90D-E18E-99BE-F6E54D12FBF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FBE3D6A-C8FF-0EDD-FFF6-C8A35128BC8B}"/>
              </a:ext>
            </a:extLst>
          </p:cNvPr>
          <p:cNvSpPr txBox="1"/>
          <p:nvPr/>
        </p:nvSpPr>
        <p:spPr>
          <a:xfrm>
            <a:off x="944907" y="1136064"/>
            <a:ext cx="5212662" cy="4585871"/>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Dataset Source</a:t>
            </a:r>
          </a:p>
          <a:p>
            <a:r>
              <a:rPr lang="en-US" sz="1600" b="1" dirty="0">
                <a:latin typeface="Abadi ExtraLight" panose="020B0204020104020204" pitchFamily="34" charset="0"/>
              </a:rPr>
              <a:t>Kaggle – AI Impact on the Workplace Dataset</a:t>
            </a:r>
          </a:p>
          <a:p>
            <a:endParaRPr lang="en-US" sz="1600" dirty="0">
              <a:latin typeface="Abadi ExtraLight" panose="020B0204020104020204" pitchFamily="34" charset="0"/>
            </a:endParaRPr>
          </a:p>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Dataset Description</a:t>
            </a:r>
          </a:p>
          <a:p>
            <a:pPr algn="just"/>
            <a:r>
              <a:rPr lang="en-US" sz="1600" dirty="0">
                <a:latin typeface="Abadi ExtraLight" panose="020B0204020104020204" pitchFamily="34" charset="0"/>
              </a:rPr>
              <a:t>The dataset contains employee and workplace information related to AI adoption, employee satisfaction, burnout, productivity, salary, work environment, and attrition risk. It was used to analyze the impact of artificial intelligence on workforce performance and employee retention through Business Intelligence and Machine Learning techniques.</a:t>
            </a:r>
          </a:p>
          <a:p>
            <a:endParaRPr lang="en-US" sz="1600" dirty="0">
              <a:latin typeface="Abadi ExtraLight" panose="020B0204020104020204" pitchFamily="34" charset="0"/>
            </a:endParaRPr>
          </a:p>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Dataset Size</a:t>
            </a:r>
          </a:p>
          <a:p>
            <a:r>
              <a:rPr lang="en-US" sz="1600" b="1" dirty="0">
                <a:latin typeface="Abadi ExtraLight" panose="020B0204020104020204" pitchFamily="34" charset="0"/>
              </a:rPr>
              <a:t>Approximately 1500 employee records </a:t>
            </a:r>
          </a:p>
          <a:p>
            <a:endParaRPr lang="en-US" sz="1600" b="1" dirty="0">
              <a:latin typeface="Abadi ExtraLight" panose="020B0204020104020204" pitchFamily="34" charset="0"/>
            </a:endParaRPr>
          </a:p>
          <a:p>
            <a:pPr algn="just"/>
            <a:r>
              <a:rPr lang="en-US" sz="1600" dirty="0">
                <a:latin typeface="Abadi ExtraLight" panose="020B0204020104020204" pitchFamily="34" charset="0"/>
              </a:rPr>
              <a:t>Contains demographic, organizational, AI adoption, productivity, satisfaction, burnout, and attrition-related variables.</a:t>
            </a:r>
          </a:p>
        </p:txBody>
      </p:sp>
      <p:cxnSp>
        <p:nvCxnSpPr>
          <p:cNvPr id="8" name="Straight Connector 7">
            <a:extLst>
              <a:ext uri="{FF2B5EF4-FFF2-40B4-BE49-F238E27FC236}">
                <a16:creationId xmlns:a16="http://schemas.microsoft.com/office/drawing/2014/main" id="{FB060FB3-BB3D-4B5A-09EA-4C2156489173}"/>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78C429D-FE55-86B1-F28A-764A459BCE69}"/>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5B76E3D-A0B8-B06C-D27F-3D593003C116}"/>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F241FB2-F235-73F5-67C7-23624BFA779E}"/>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FBE1A572-868C-85A0-7BC1-426F60630A09}"/>
              </a:ext>
            </a:extLst>
          </p:cNvPr>
          <p:cNvPicPr>
            <a:picLocks noChangeAspect="1"/>
          </p:cNvPicPr>
          <p:nvPr/>
        </p:nvPicPr>
        <p:blipFill>
          <a:blip r:embed="rId2"/>
          <a:stretch>
            <a:fillRect/>
          </a:stretch>
        </p:blipFill>
        <p:spPr>
          <a:xfrm>
            <a:off x="6325844" y="1912937"/>
            <a:ext cx="5218456" cy="242068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6674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06E9-51B1-3A13-CA2B-45BC63DE3A7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E3E0B78-C241-1874-298E-763E7D48EFC2}"/>
              </a:ext>
            </a:extLst>
          </p:cNvPr>
          <p:cNvSpPr txBox="1"/>
          <p:nvPr/>
        </p:nvSpPr>
        <p:spPr>
          <a:xfrm>
            <a:off x="944907" y="1136064"/>
            <a:ext cx="5212662" cy="4401205"/>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Data Cleansing</a:t>
            </a:r>
          </a:p>
          <a:p>
            <a:r>
              <a:rPr lang="en-US" sz="1600" dirty="0">
                <a:latin typeface="Abadi ExtraLight" panose="020B0204020104020204" pitchFamily="34" charset="0"/>
              </a:rPr>
              <a:t>Before analysis and modeling, the dataset was cleaned to ensure data quality.</a:t>
            </a:r>
          </a:p>
          <a:p>
            <a:endParaRPr lang="en-US" sz="1600" dirty="0">
              <a:latin typeface="Abadi ExtraLight" panose="020B0204020104020204" pitchFamily="34" charset="0"/>
            </a:endParaRPr>
          </a:p>
          <a:p>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Missing Values: </a:t>
            </a:r>
            <a:r>
              <a:rPr lang="en-US" sz="1600" dirty="0">
                <a:latin typeface="Abadi ExtraLight" panose="020B0204020104020204" pitchFamily="34" charset="0"/>
              </a:rPr>
              <a:t>No missing values were found.</a:t>
            </a:r>
          </a:p>
          <a:p>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Duplicates</a:t>
            </a:r>
            <a:r>
              <a:rPr lang="en-US" sz="1600" b="1"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a:t>
            </a:r>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 </a:t>
            </a:r>
            <a:r>
              <a:rPr lang="en-US" sz="1600" dirty="0">
                <a:latin typeface="Abadi ExtraLight" panose="020B0204020104020204" pitchFamily="34" charset="0"/>
              </a:rPr>
              <a:t>No duplicate records were detected.</a:t>
            </a:r>
          </a:p>
          <a:p>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Outlier Detection</a:t>
            </a:r>
            <a:r>
              <a:rPr lang="en-US" sz="1600" b="1" dirty="0">
                <a:latin typeface="Abadi ExtraLight" panose="020B0204020104020204" pitchFamily="34" charset="0"/>
              </a:rPr>
              <a:t>:</a:t>
            </a:r>
            <a:r>
              <a:rPr lang="en-US" sz="1600" dirty="0">
                <a:latin typeface="Abadi ExtraLight" panose="020B0204020104020204" pitchFamily="34" charset="0"/>
              </a:rPr>
              <a:t> Boxplots and Z-Score analysis were used to identify extreme values.</a:t>
            </a:r>
          </a:p>
          <a:p>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Outlier Removal: </a:t>
            </a:r>
            <a:r>
              <a:rPr lang="en-US" sz="1600" dirty="0">
                <a:latin typeface="Abadi ExtraLight" panose="020B0204020104020204" pitchFamily="34" charset="0"/>
              </a:rPr>
              <a:t>A small number of outliers in burnout, productivity, and job satisfaction were removed.</a:t>
            </a:r>
          </a:p>
          <a:p>
            <a:endParaRPr lang="en-US" sz="1600" dirty="0">
              <a:latin typeface="Abadi ExtraLight" panose="020B0204020104020204" pitchFamily="34" charset="0"/>
            </a:endParaRPr>
          </a:p>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Result</a:t>
            </a:r>
          </a:p>
          <a:p>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Original Records: </a:t>
            </a:r>
            <a:r>
              <a:rPr lang="en-US" sz="1600" dirty="0">
                <a:latin typeface="Abadi ExtraLight" panose="020B0204020104020204" pitchFamily="34" charset="0"/>
              </a:rPr>
              <a:t>1,500</a:t>
            </a:r>
          </a:p>
          <a:p>
            <a:r>
              <a:rPr lang="en-US" sz="16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Cleaned Records</a:t>
            </a:r>
            <a:r>
              <a:rPr lang="en-US" sz="1600" dirty="0">
                <a:latin typeface="Abadi ExtraLight" panose="020B0204020104020204" pitchFamily="34" charset="0"/>
              </a:rPr>
              <a:t>: 1,495</a:t>
            </a:r>
          </a:p>
          <a:p>
            <a:r>
              <a:rPr lang="en-US" sz="1600" dirty="0">
                <a:latin typeface="Abadi ExtraLight" panose="020B0204020104020204" pitchFamily="34" charset="0"/>
              </a:rPr>
              <a:t>The cleaned dataset was then used for dashboard development, machine learning models, and clustering analysis.</a:t>
            </a:r>
          </a:p>
        </p:txBody>
      </p:sp>
      <p:cxnSp>
        <p:nvCxnSpPr>
          <p:cNvPr id="8" name="Straight Connector 7">
            <a:extLst>
              <a:ext uri="{FF2B5EF4-FFF2-40B4-BE49-F238E27FC236}">
                <a16:creationId xmlns:a16="http://schemas.microsoft.com/office/drawing/2014/main" id="{3B0B1400-F6E2-75C2-A894-46FDBABC71FC}"/>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252AFE0-4AC5-9B32-1061-AACE5A1E8CCD}"/>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8DACDA9-9C37-300B-65F9-E0C183394AEB}"/>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AA73B32-2D6A-EDFC-405E-11B12A2A3F59}"/>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51290809-E263-295A-01F0-D6FBEFD18785}"/>
              </a:ext>
            </a:extLst>
          </p:cNvPr>
          <p:cNvPicPr>
            <a:picLocks noChangeAspect="1"/>
          </p:cNvPicPr>
          <p:nvPr/>
        </p:nvPicPr>
        <p:blipFill>
          <a:blip r:embed="rId2"/>
          <a:srcRect t="31537"/>
          <a:stretch>
            <a:fillRect/>
          </a:stretch>
        </p:blipFill>
        <p:spPr>
          <a:xfrm>
            <a:off x="6599958" y="494690"/>
            <a:ext cx="5160242" cy="1353137"/>
          </a:xfrm>
          <a:prstGeom prst="rect">
            <a:avLst/>
          </a:prstGeom>
        </p:spPr>
      </p:pic>
      <p:pic>
        <p:nvPicPr>
          <p:cNvPr id="7" name="Picture 6">
            <a:extLst>
              <a:ext uri="{FF2B5EF4-FFF2-40B4-BE49-F238E27FC236}">
                <a16:creationId xmlns:a16="http://schemas.microsoft.com/office/drawing/2014/main" id="{2D450EED-6E6F-27E4-0F72-BF0F7DB0F537}"/>
              </a:ext>
            </a:extLst>
          </p:cNvPr>
          <p:cNvPicPr>
            <a:picLocks noChangeAspect="1"/>
          </p:cNvPicPr>
          <p:nvPr/>
        </p:nvPicPr>
        <p:blipFill>
          <a:blip r:embed="rId3"/>
          <a:stretch>
            <a:fillRect/>
          </a:stretch>
        </p:blipFill>
        <p:spPr>
          <a:xfrm>
            <a:off x="6599958" y="2067535"/>
            <a:ext cx="5160237" cy="1931991"/>
          </a:xfrm>
          <a:prstGeom prst="rect">
            <a:avLst/>
          </a:prstGeom>
        </p:spPr>
      </p:pic>
      <p:pic>
        <p:nvPicPr>
          <p:cNvPr id="13" name="Picture 12">
            <a:extLst>
              <a:ext uri="{FF2B5EF4-FFF2-40B4-BE49-F238E27FC236}">
                <a16:creationId xmlns:a16="http://schemas.microsoft.com/office/drawing/2014/main" id="{909E2AA1-69AC-16E8-89D9-4F72F8B11E2F}"/>
              </a:ext>
            </a:extLst>
          </p:cNvPr>
          <p:cNvPicPr>
            <a:picLocks noChangeAspect="1"/>
          </p:cNvPicPr>
          <p:nvPr/>
        </p:nvPicPr>
        <p:blipFill>
          <a:blip r:embed="rId4"/>
          <a:stretch>
            <a:fillRect/>
          </a:stretch>
        </p:blipFill>
        <p:spPr>
          <a:xfrm>
            <a:off x="6599957" y="4219234"/>
            <a:ext cx="5160235" cy="2242159"/>
          </a:xfrm>
          <a:prstGeom prst="rect">
            <a:avLst/>
          </a:prstGeom>
        </p:spPr>
      </p:pic>
    </p:spTree>
    <p:extLst>
      <p:ext uri="{BB962C8B-B14F-4D97-AF65-F5344CB8AC3E}">
        <p14:creationId xmlns:p14="http://schemas.microsoft.com/office/powerpoint/2010/main" val="3708354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CDF10-A8AE-E771-A6AF-C9C228501ED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8C5D8D-A51F-F17E-D583-58304E718E5D}"/>
              </a:ext>
            </a:extLst>
          </p:cNvPr>
          <p:cNvSpPr txBox="1"/>
          <p:nvPr/>
        </p:nvSpPr>
        <p:spPr>
          <a:xfrm>
            <a:off x="883338" y="551289"/>
            <a:ext cx="5847662" cy="5755422"/>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Descriptive Statistics</a:t>
            </a:r>
          </a:p>
          <a:p>
            <a:endParaRPr lang="en-US" sz="1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r>
              <a:rPr lang="en-US" sz="1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Numerical Variables</a:t>
            </a:r>
          </a:p>
          <a:p>
            <a:pPr marL="285750" indent="-285750">
              <a:buFont typeface="Courier New" panose="02070309020205020404" pitchFamily="49" charset="0"/>
              <a:buChar char="o"/>
            </a:pPr>
            <a:r>
              <a:rPr lang="en-US" sz="1400" dirty="0">
                <a:latin typeface="Abadi ExtraLight" panose="020B0204020104020204" pitchFamily="34" charset="0"/>
              </a:rPr>
              <a:t>Analysis of 1,495 employee records showed:</a:t>
            </a:r>
          </a:p>
          <a:p>
            <a:pPr marL="285750" indent="-285750">
              <a:buFont typeface="Courier New" panose="02070309020205020404" pitchFamily="49" charset="0"/>
              <a:buChar char="o"/>
            </a:pPr>
            <a:r>
              <a:rPr lang="en-US" sz="1400" dirty="0">
                <a:latin typeface="Abadi ExtraLight" panose="020B0204020104020204" pitchFamily="34" charset="0"/>
              </a:rPr>
              <a:t>Average experience: 10 years</a:t>
            </a:r>
          </a:p>
          <a:p>
            <a:pPr marL="285750" indent="-285750">
              <a:buFont typeface="Courier New" panose="02070309020205020404" pitchFamily="49" charset="0"/>
              <a:buChar char="o"/>
            </a:pPr>
            <a:r>
              <a:rPr lang="en-US" sz="1400" dirty="0">
                <a:latin typeface="Abadi ExtraLight" panose="020B0204020104020204" pitchFamily="34" charset="0"/>
              </a:rPr>
              <a:t>Average salary: 140K USD</a:t>
            </a:r>
          </a:p>
          <a:p>
            <a:pPr marL="285750" indent="-285750">
              <a:buFont typeface="Courier New" panose="02070309020205020404" pitchFamily="49" charset="0"/>
              <a:buChar char="o"/>
            </a:pPr>
            <a:r>
              <a:rPr lang="en-US" sz="1400" dirty="0">
                <a:latin typeface="Abadi ExtraLight" panose="020B0204020104020204" pitchFamily="34" charset="0"/>
              </a:rPr>
              <a:t>Average team size: 25 employees</a:t>
            </a:r>
          </a:p>
          <a:p>
            <a:pPr marL="285750" indent="-285750">
              <a:buFont typeface="Courier New" panose="02070309020205020404" pitchFamily="49" charset="0"/>
              <a:buChar char="o"/>
            </a:pPr>
            <a:r>
              <a:rPr lang="en-US" sz="1400" dirty="0">
                <a:latin typeface="Abadi ExtraLight" panose="020B0204020104020204" pitchFamily="34" charset="0"/>
              </a:rPr>
              <a:t>Salary ranges from 40K to 249K USD</a:t>
            </a:r>
          </a:p>
          <a:p>
            <a:pPr marL="285750" indent="-285750">
              <a:buFont typeface="Courier New" panose="02070309020205020404" pitchFamily="49" charset="0"/>
              <a:buChar char="o"/>
            </a:pPr>
            <a:r>
              <a:rPr lang="en-US" sz="1400" dirty="0">
                <a:latin typeface="Abadi ExtraLight" panose="020B0204020104020204" pitchFamily="34" charset="0"/>
              </a:rPr>
              <a:t>Team sizes range from 2 to 49 employees</a:t>
            </a:r>
          </a:p>
          <a:p>
            <a:r>
              <a:rPr lang="en-US" sz="1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Insight: </a:t>
            </a:r>
            <a:r>
              <a:rPr lang="en-US" sz="1400" dirty="0">
                <a:latin typeface="Abadi ExtraLight" panose="020B0204020104020204" pitchFamily="34" charset="0"/>
              </a:rPr>
              <a:t>The workforce contains employees with diverse experience levels, salaries, and team structures.</a:t>
            </a:r>
          </a:p>
          <a:p>
            <a:br>
              <a:rPr lang="en-US" sz="1600" dirty="0">
                <a:latin typeface="Abadi ExtraLight" panose="020B0204020104020204" pitchFamily="34" charset="0"/>
              </a:rPr>
            </a:br>
            <a:endParaRPr lang="en-US" sz="1600" dirty="0">
              <a:latin typeface="Abadi ExtraLight" panose="020B0204020104020204" pitchFamily="34" charset="0"/>
            </a:endParaRPr>
          </a:p>
          <a:p>
            <a:r>
              <a:rPr lang="en-US" sz="1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Categorical Variables</a:t>
            </a:r>
          </a:p>
          <a:p>
            <a:r>
              <a:rPr lang="en-US" sz="1400" dirty="0">
                <a:latin typeface="Abadi ExtraLight" panose="020B0204020104020204" pitchFamily="34" charset="0"/>
              </a:rPr>
              <a:t>The dataset includes:</a:t>
            </a:r>
          </a:p>
          <a:p>
            <a:pPr marL="285750" indent="-285750">
              <a:buFont typeface="Courier New" panose="02070309020205020404" pitchFamily="49" charset="0"/>
              <a:buChar char="o"/>
            </a:pPr>
            <a:r>
              <a:rPr lang="en-US" sz="1400" dirty="0">
                <a:latin typeface="Abadi ExtraLight" panose="020B0204020104020204" pitchFamily="34" charset="0"/>
              </a:rPr>
              <a:t>12 Job Roles</a:t>
            </a:r>
          </a:p>
          <a:p>
            <a:pPr marL="285750" indent="-285750">
              <a:buFont typeface="Courier New" panose="02070309020205020404" pitchFamily="49" charset="0"/>
              <a:buChar char="o"/>
            </a:pPr>
            <a:r>
              <a:rPr lang="en-US" sz="1400" dirty="0">
                <a:latin typeface="Abadi ExtraLight" panose="020B0204020104020204" pitchFamily="34" charset="0"/>
              </a:rPr>
              <a:t>10 Countries</a:t>
            </a:r>
          </a:p>
          <a:p>
            <a:pPr marL="285750" indent="-285750">
              <a:buFont typeface="Courier New" panose="02070309020205020404" pitchFamily="49" charset="0"/>
              <a:buChar char="o"/>
            </a:pPr>
            <a:r>
              <a:rPr lang="en-US" sz="1400" dirty="0">
                <a:latin typeface="Abadi ExtraLight" panose="020B0204020104020204" pitchFamily="34" charset="0"/>
              </a:rPr>
              <a:t>10 Industries</a:t>
            </a:r>
          </a:p>
          <a:p>
            <a:pPr marL="285750" indent="-285750">
              <a:buFont typeface="Courier New" panose="02070309020205020404" pitchFamily="49" charset="0"/>
              <a:buChar char="o"/>
            </a:pPr>
            <a:r>
              <a:rPr lang="en-US" sz="1400" dirty="0">
                <a:latin typeface="Abadi ExtraLight" panose="020B0204020104020204" pitchFamily="34" charset="0"/>
              </a:rPr>
              <a:t>4 AI Adoption Stages</a:t>
            </a:r>
          </a:p>
          <a:p>
            <a:r>
              <a:rPr lang="en-US" sz="1400" dirty="0">
                <a:latin typeface="Abadi ExtraLight" panose="020B0204020104020204" pitchFamily="34" charset="0"/>
              </a:rPr>
              <a:t>Most common categories:</a:t>
            </a:r>
          </a:p>
          <a:p>
            <a:pPr marL="285750" indent="-285750">
              <a:buFont typeface="Courier New" panose="02070309020205020404" pitchFamily="49" charset="0"/>
              <a:buChar char="o"/>
            </a:pPr>
            <a:r>
              <a:rPr lang="en-US" sz="1400" dirty="0">
                <a:latin typeface="Abadi ExtraLight" panose="020B0204020104020204" pitchFamily="34" charset="0"/>
              </a:rPr>
              <a:t>Software Engineer (Job Role)</a:t>
            </a:r>
          </a:p>
          <a:p>
            <a:pPr marL="285750" indent="-285750">
              <a:buFont typeface="Courier New" panose="02070309020205020404" pitchFamily="49" charset="0"/>
              <a:buChar char="o"/>
            </a:pPr>
            <a:r>
              <a:rPr lang="en-US" sz="1400" dirty="0">
                <a:latin typeface="Abadi ExtraLight" panose="020B0204020104020204" pitchFamily="34" charset="0"/>
              </a:rPr>
              <a:t>Hybrid (Remote Work Type)</a:t>
            </a:r>
          </a:p>
          <a:p>
            <a:pPr marL="285750" indent="-285750">
              <a:buFont typeface="Courier New" panose="02070309020205020404" pitchFamily="49" charset="0"/>
              <a:buChar char="o"/>
            </a:pPr>
            <a:r>
              <a:rPr lang="en-US" sz="1400" dirty="0">
                <a:latin typeface="Abadi ExtraLight" panose="020B0204020104020204" pitchFamily="34" charset="0"/>
              </a:rPr>
              <a:t>Integrating (AI Adoption Stage)</a:t>
            </a:r>
          </a:p>
          <a:p>
            <a:pPr marL="285750" indent="-285750">
              <a:buFont typeface="Courier New" panose="02070309020205020404" pitchFamily="49" charset="0"/>
              <a:buChar char="o"/>
            </a:pPr>
            <a:r>
              <a:rPr lang="en-US" sz="1400" dirty="0">
                <a:latin typeface="Abadi ExtraLight" panose="020B0204020104020204" pitchFamily="34" charset="0"/>
              </a:rPr>
              <a:t>Medium (Fear of AI Replacement)</a:t>
            </a:r>
          </a:p>
          <a:p>
            <a:r>
              <a:rPr lang="en-US" sz="1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Insight: </a:t>
            </a:r>
            <a:r>
              <a:rPr lang="en-US" sz="1400" dirty="0">
                <a:latin typeface="Abadi ExtraLight" panose="020B0204020104020204" pitchFamily="34" charset="0"/>
              </a:rPr>
              <a:t>Hybrid work and AI integration are common across the workforce.</a:t>
            </a:r>
          </a:p>
        </p:txBody>
      </p:sp>
      <p:cxnSp>
        <p:nvCxnSpPr>
          <p:cNvPr id="8" name="Straight Connector 7">
            <a:extLst>
              <a:ext uri="{FF2B5EF4-FFF2-40B4-BE49-F238E27FC236}">
                <a16:creationId xmlns:a16="http://schemas.microsoft.com/office/drawing/2014/main" id="{515D68FE-F176-8E44-54A0-A2EEAC68A555}"/>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C74529D-0974-57EA-7100-184FFFC0DA21}"/>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4A02898-1B7F-4B4A-AF41-24F4CC929C3B}"/>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F2F2599-FC53-8561-AB17-E0C2673BBC5A}"/>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B87484D0-4F3C-9153-B052-82360C86AC22}"/>
              </a:ext>
            </a:extLst>
          </p:cNvPr>
          <p:cNvPicPr>
            <a:picLocks noChangeAspect="1"/>
          </p:cNvPicPr>
          <p:nvPr/>
        </p:nvPicPr>
        <p:blipFill>
          <a:blip r:embed="rId3"/>
          <a:stretch>
            <a:fillRect/>
          </a:stretch>
        </p:blipFill>
        <p:spPr>
          <a:xfrm>
            <a:off x="6464369" y="1943100"/>
            <a:ext cx="5130731" cy="22733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34549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FF77E-A123-97C7-F187-A52014A5BF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D887392-C8DE-0569-57AD-7A610640D408}"/>
              </a:ext>
            </a:extLst>
          </p:cNvPr>
          <p:cNvSpPr txBox="1"/>
          <p:nvPr/>
        </p:nvSpPr>
        <p:spPr>
          <a:xfrm>
            <a:off x="883338" y="551289"/>
            <a:ext cx="5130109" cy="5447645"/>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Distribution Analysis</a:t>
            </a:r>
          </a:p>
          <a:p>
            <a:endParaRPr lang="en-US" sz="1600" b="1"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Years of Experience: </a:t>
            </a:r>
            <a:r>
              <a:rPr lang="en-US" sz="1400" dirty="0">
                <a:latin typeface="Abadi ExtraLight" panose="020B0204020104020204" pitchFamily="34" charset="0"/>
              </a:rPr>
              <a:t>Employees have varying experience levels, with a slight concentration in mid-level experience.</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Helps assess workforce maturity and performance trends.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Salary (USD): </a:t>
            </a:r>
            <a:r>
              <a:rPr lang="en-US" sz="1400" dirty="0">
                <a:latin typeface="Abadi ExtraLight" panose="020B0204020104020204" pitchFamily="34" charset="0"/>
              </a:rPr>
              <a:t>Salaries are distributed across different income levels.</a:t>
            </a:r>
          </a:p>
          <a:p>
            <a:r>
              <a:rPr lang="en-US" sz="1400" dirty="0">
                <a:solidFill>
                  <a:schemeClr val="accent2">
                    <a:lumMod val="50000"/>
                  </a:schemeClr>
                </a:solidFill>
                <a:latin typeface="Abadi ExtraLight" panose="020B0204020104020204" pitchFamily="34" charset="0"/>
              </a:rPr>
              <a:t>Business Value:</a:t>
            </a:r>
            <a:r>
              <a:rPr lang="en-US" sz="1400" dirty="0">
                <a:latin typeface="Abadi ExtraLight" panose="020B0204020104020204" pitchFamily="34" charset="0"/>
              </a:rPr>
              <a:t> Supports compensation and employee satisfaction analysis.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Burnout Score: </a:t>
            </a:r>
            <a:r>
              <a:rPr lang="en-US" sz="1400" dirty="0">
                <a:latin typeface="Abadi ExtraLight" panose="020B0204020104020204" pitchFamily="34" charset="0"/>
              </a:rPr>
              <a:t>Burnout levels follow a near-normal distribution centered around moderate levels.</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Identifies workforce well-being and potential attrition risks.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Job Satisfaction: </a:t>
            </a:r>
            <a:r>
              <a:rPr lang="en-US" sz="1400" dirty="0">
                <a:latin typeface="Abadi ExtraLight" panose="020B0204020104020204" pitchFamily="34" charset="0"/>
              </a:rPr>
              <a:t>Most employees report medium to high satisfaction.</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Measures employee engagement and workplace morale.</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Productivity Score: </a:t>
            </a:r>
            <a:r>
              <a:rPr lang="en-US" sz="1400" dirty="0">
                <a:latin typeface="Abadi ExtraLight" panose="020B0204020104020204" pitchFamily="34" charset="0"/>
              </a:rPr>
              <a:t>Productivity is concentrated around average performance levels.</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Supports workforce performance evaluation.</a:t>
            </a:r>
          </a:p>
        </p:txBody>
      </p:sp>
      <p:cxnSp>
        <p:nvCxnSpPr>
          <p:cNvPr id="8" name="Straight Connector 7">
            <a:extLst>
              <a:ext uri="{FF2B5EF4-FFF2-40B4-BE49-F238E27FC236}">
                <a16:creationId xmlns:a16="http://schemas.microsoft.com/office/drawing/2014/main" id="{C220D40E-E516-D14C-E9E6-3428023CA3A3}"/>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5D23ABD-2B5B-E989-1374-BAC98EA887A5}"/>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6344EF3-FF4D-BE91-CE4C-695D73325670}"/>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D5C368B-46C9-B321-3876-FBF3610F7025}"/>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0EF14EB5-43BD-8DE1-A042-71B30BC20888}"/>
              </a:ext>
            </a:extLst>
          </p:cNvPr>
          <p:cNvPicPr>
            <a:picLocks noChangeAspect="1"/>
          </p:cNvPicPr>
          <p:nvPr/>
        </p:nvPicPr>
        <p:blipFill>
          <a:blip r:embed="rId3"/>
          <a:stretch>
            <a:fillRect/>
          </a:stretch>
        </p:blipFill>
        <p:spPr>
          <a:xfrm>
            <a:off x="6130851" y="631825"/>
            <a:ext cx="5464249" cy="279717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3" name="TextBox 12">
            <a:extLst>
              <a:ext uri="{FF2B5EF4-FFF2-40B4-BE49-F238E27FC236}">
                <a16:creationId xmlns:a16="http://schemas.microsoft.com/office/drawing/2014/main" id="{00EC0E96-DF32-F2FC-DC64-1E88EE72D4D2}"/>
              </a:ext>
            </a:extLst>
          </p:cNvPr>
          <p:cNvSpPr txBox="1"/>
          <p:nvPr/>
        </p:nvSpPr>
        <p:spPr>
          <a:xfrm>
            <a:off x="6013447" y="3702407"/>
            <a:ext cx="5746748" cy="2339102"/>
          </a:xfrm>
          <a:prstGeom prst="rect">
            <a:avLst/>
          </a:prstGeom>
          <a:noFill/>
        </p:spPr>
        <p:txBody>
          <a:bodyPr wrap="square">
            <a:spAutoFit/>
          </a:bodyPr>
          <a:lstStyle/>
          <a:p>
            <a:r>
              <a:rPr lang="en-US" sz="1600" dirty="0">
                <a:solidFill>
                  <a:schemeClr val="accent2">
                    <a:lumMod val="50000"/>
                  </a:schemeClr>
                </a:solidFill>
                <a:latin typeface="Abadi ExtraLight" panose="020B0204020104020204" pitchFamily="34" charset="0"/>
              </a:rPr>
              <a:t>Weekly AI Upskilling Hours: </a:t>
            </a:r>
            <a:r>
              <a:rPr lang="en-US" sz="1400" dirty="0">
                <a:latin typeface="Abadi ExtraLight" panose="020B0204020104020204" pitchFamily="34" charset="0"/>
              </a:rPr>
              <a:t>Employees spend varying amounts of time developing AI skills.</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Measures readiness for AI transformation.</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AI Replaces My Tasks (%): </a:t>
            </a:r>
            <a:r>
              <a:rPr lang="en-US" sz="1400" dirty="0">
                <a:latin typeface="Abadi ExtraLight" panose="020B0204020104020204" pitchFamily="34" charset="0"/>
              </a:rPr>
              <a:t>Employees have different perceptions of AI replacing job tasks.</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Helps understand AI-related concerns and workforce sentiment.</a:t>
            </a:r>
          </a:p>
          <a:p>
            <a:endParaRPr lang="en-US" sz="1400" b="1"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Daily AI Tool Usage: </a:t>
            </a:r>
            <a:r>
              <a:rPr lang="en-US" sz="1400" dirty="0">
                <a:latin typeface="Abadi ExtraLight" panose="020B0204020104020204" pitchFamily="34" charset="0"/>
              </a:rPr>
              <a:t>AI usage is fairly distributed among employees.</a:t>
            </a:r>
          </a:p>
          <a:p>
            <a:r>
              <a:rPr lang="en-US" sz="1400" dirty="0">
                <a:solidFill>
                  <a:schemeClr val="accent2">
                    <a:lumMod val="50000"/>
                  </a:schemeClr>
                </a:solidFill>
                <a:latin typeface="Abadi ExtraLight" panose="020B0204020104020204" pitchFamily="34" charset="0"/>
              </a:rPr>
              <a:t>Business Value: </a:t>
            </a:r>
            <a:r>
              <a:rPr lang="en-US" sz="1400" dirty="0">
                <a:latin typeface="Abadi ExtraLight" panose="020B0204020104020204" pitchFamily="34" charset="0"/>
              </a:rPr>
              <a:t>Evaluates AI adoption and its impact on work performance.</a:t>
            </a:r>
          </a:p>
        </p:txBody>
      </p:sp>
    </p:spTree>
    <p:extLst>
      <p:ext uri="{BB962C8B-B14F-4D97-AF65-F5344CB8AC3E}">
        <p14:creationId xmlns:p14="http://schemas.microsoft.com/office/powerpoint/2010/main" val="254994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BE9F-824D-B7B1-3AEA-4DA837A75D3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0F56839-1F9D-227B-5A58-14C9F90C73BF}"/>
              </a:ext>
            </a:extLst>
          </p:cNvPr>
          <p:cNvSpPr txBox="1"/>
          <p:nvPr/>
        </p:nvSpPr>
        <p:spPr>
          <a:xfrm>
            <a:off x="883338" y="551289"/>
            <a:ext cx="5130109" cy="6278642"/>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Distribution Analysis</a:t>
            </a:r>
          </a:p>
          <a:p>
            <a:endParaRPr lang="en-US" sz="1600" b="1"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Job Role Distribution: </a:t>
            </a:r>
            <a:r>
              <a:rPr lang="en-US" sz="1400" dirty="0">
                <a:latin typeface="Abadi ExtraLight" panose="020B0204020104020204" pitchFamily="34" charset="0"/>
              </a:rPr>
              <a:t>Software Engineer has the highest percentage, while some technical roles appear slightly lower.</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analyze workforce structure across AI-related jobs.</a:t>
            </a:r>
            <a:br>
              <a:rPr lang="en-US" sz="1600" dirty="0">
                <a:latin typeface="Abadi ExtraLight" panose="020B0204020104020204" pitchFamily="34" charset="0"/>
              </a:rPr>
            </a:br>
            <a:endParaRPr lang="en-US" sz="16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Education Level Distribution: </a:t>
            </a:r>
            <a:r>
              <a:rPr lang="en-US" sz="1400" dirty="0">
                <a:latin typeface="Abadi ExtraLight" panose="020B0204020104020204" pitchFamily="34" charset="0"/>
              </a:rPr>
              <a:t>Most employees hold Master’s or Bachelor’s degrees.</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evaluate workforce qualification levels.</a:t>
            </a:r>
            <a:br>
              <a:rPr lang="en-US" sz="1600" dirty="0">
                <a:latin typeface="Abadi ExtraLight" panose="020B0204020104020204" pitchFamily="34" charset="0"/>
              </a:rPr>
            </a:br>
            <a:br>
              <a:rPr lang="en-US" sz="1600" dirty="0">
                <a:latin typeface="Abadi ExtraLight" panose="020B0204020104020204" pitchFamily="34" charset="0"/>
              </a:rPr>
            </a:br>
            <a:r>
              <a:rPr lang="en-US" sz="1600" dirty="0">
                <a:solidFill>
                  <a:schemeClr val="accent2">
                    <a:lumMod val="50000"/>
                  </a:schemeClr>
                </a:solidFill>
                <a:latin typeface="Abadi ExtraLight" panose="020B0204020104020204" pitchFamily="34" charset="0"/>
              </a:rPr>
              <a:t>Country Distribution: </a:t>
            </a:r>
            <a:r>
              <a:rPr lang="en-US" sz="1400" dirty="0">
                <a:latin typeface="Abadi ExtraLight" panose="020B0204020104020204" pitchFamily="34" charset="0"/>
              </a:rPr>
              <a:t>Employees are distributed across multiple countries, with France and the UK slightly higher.</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Enables geographic workforce analysis.</a:t>
            </a:r>
            <a:br>
              <a:rPr lang="en-US" sz="1600" dirty="0">
                <a:latin typeface="Abadi ExtraLight" panose="020B0204020104020204" pitchFamily="34" charset="0"/>
              </a:rPr>
            </a:br>
            <a:br>
              <a:rPr lang="en-US" sz="1600" dirty="0">
                <a:latin typeface="Abadi ExtraLight" panose="020B0204020104020204" pitchFamily="34" charset="0"/>
              </a:rPr>
            </a:br>
            <a:r>
              <a:rPr lang="en-US" sz="1600" dirty="0">
                <a:solidFill>
                  <a:schemeClr val="accent2">
                    <a:lumMod val="50000"/>
                  </a:schemeClr>
                </a:solidFill>
                <a:latin typeface="Abadi ExtraLight" panose="020B0204020104020204" pitchFamily="34" charset="0"/>
              </a:rPr>
              <a:t>Industry Distribution: </a:t>
            </a:r>
            <a:r>
              <a:rPr lang="en-US" sz="1400" dirty="0">
                <a:latin typeface="Abadi ExtraLight" panose="020B0204020104020204" pitchFamily="34" charset="0"/>
              </a:rPr>
              <a:t>Gaming and EdTech industries have higher representation.</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Identifies industries more engaged in AI transformation.</a:t>
            </a:r>
            <a:br>
              <a:rPr lang="en-US" sz="1600" dirty="0">
                <a:latin typeface="Abadi ExtraLight" panose="020B0204020104020204" pitchFamily="34" charset="0"/>
              </a:rPr>
            </a:br>
            <a:br>
              <a:rPr lang="en-US" sz="1600" dirty="0">
                <a:latin typeface="Abadi ExtraLight" panose="020B0204020104020204" pitchFamily="34" charset="0"/>
              </a:rPr>
            </a:br>
            <a:r>
              <a:rPr lang="en-US" sz="1600" dirty="0">
                <a:solidFill>
                  <a:schemeClr val="accent2">
                    <a:lumMod val="50000"/>
                  </a:schemeClr>
                </a:solidFill>
                <a:latin typeface="Abadi ExtraLight" panose="020B0204020104020204" pitchFamily="34" charset="0"/>
              </a:rPr>
              <a:t>Company Size Distribution: </a:t>
            </a:r>
            <a:r>
              <a:rPr lang="en-US" sz="1400" dirty="0">
                <a:latin typeface="Abadi ExtraLight" panose="020B0204020104020204" pitchFamily="34" charset="0"/>
              </a:rPr>
              <a:t>Mid-size and Enterprise companies appear most represented.</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compare AI adoption across company sizes.</a:t>
            </a:r>
            <a:br>
              <a:rPr lang="en-US" sz="1600" dirty="0">
                <a:latin typeface="Abadi ExtraLight" panose="020B0204020104020204" pitchFamily="34" charset="0"/>
              </a:rPr>
            </a:br>
            <a:r>
              <a:rPr lang="en-US" sz="1600" dirty="0">
                <a:latin typeface="Abadi ExtraLight" panose="020B0204020104020204" pitchFamily="34" charset="0"/>
              </a:rPr>
              <a:t>.</a:t>
            </a:r>
          </a:p>
          <a:p>
            <a:r>
              <a:rPr lang="en-US" sz="1600" dirty="0">
                <a:solidFill>
                  <a:schemeClr val="accent2">
                    <a:lumMod val="50000"/>
                  </a:schemeClr>
                </a:solidFill>
                <a:latin typeface="Abadi ExtraLight" panose="020B0204020104020204" pitchFamily="34" charset="0"/>
              </a:rPr>
              <a:t>Remote Work Type Distribution: </a:t>
            </a:r>
            <a:r>
              <a:rPr lang="en-US" sz="1400" dirty="0">
                <a:latin typeface="Abadi ExtraLight" panose="020B0204020104020204" pitchFamily="34" charset="0"/>
              </a:rPr>
              <a:t>Hybrid and Fully Remote work dominate the dataset.</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Evaluates the effect of work style on employees.</a:t>
            </a:r>
            <a:br>
              <a:rPr lang="en-US" sz="1600" dirty="0">
                <a:latin typeface="Abadi ExtraLight" panose="020B0204020104020204" pitchFamily="34" charset="0"/>
              </a:rPr>
            </a:br>
            <a:endParaRPr lang="en-US" sz="1400" dirty="0">
              <a:latin typeface="Abadi ExtraLight" panose="020B0204020104020204" pitchFamily="34" charset="0"/>
            </a:endParaRPr>
          </a:p>
        </p:txBody>
      </p:sp>
      <p:cxnSp>
        <p:nvCxnSpPr>
          <p:cNvPr id="8" name="Straight Connector 7">
            <a:extLst>
              <a:ext uri="{FF2B5EF4-FFF2-40B4-BE49-F238E27FC236}">
                <a16:creationId xmlns:a16="http://schemas.microsoft.com/office/drawing/2014/main" id="{D995DBC4-87C8-C2DC-B7C1-1B01136808E0}"/>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AD6248B-5BB3-950E-8B12-14ED42D61238}"/>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A808331-91EE-776B-7210-93A280394FB9}"/>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D400EA0-D116-4579-24D6-6DA98D580E6D}"/>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650A84D-7C6A-9BAF-C4EF-AF5A3F4E0556}"/>
              </a:ext>
            </a:extLst>
          </p:cNvPr>
          <p:cNvSpPr txBox="1"/>
          <p:nvPr/>
        </p:nvSpPr>
        <p:spPr>
          <a:xfrm>
            <a:off x="6013452" y="3226237"/>
            <a:ext cx="5746748" cy="3631763"/>
          </a:xfrm>
          <a:prstGeom prst="rect">
            <a:avLst/>
          </a:prstGeom>
          <a:noFill/>
        </p:spPr>
        <p:txBody>
          <a:bodyPr wrap="square">
            <a:spAutoFit/>
          </a:bodyPr>
          <a:lstStyle/>
          <a:p>
            <a:r>
              <a:rPr lang="en-US" sz="1600" dirty="0">
                <a:solidFill>
                  <a:schemeClr val="accent2">
                    <a:lumMod val="50000"/>
                  </a:schemeClr>
                </a:solidFill>
                <a:latin typeface="Abadi ExtraLight" panose="020B0204020104020204" pitchFamily="34" charset="0"/>
              </a:rPr>
              <a:t>Primary AI Tool Distribution: </a:t>
            </a:r>
            <a:r>
              <a:rPr lang="en-US" sz="1400" dirty="0">
                <a:latin typeface="Abadi ExtraLight" panose="020B0204020104020204" pitchFamily="34" charset="0"/>
              </a:rPr>
              <a:t>Midjourney and GitHub Copilot are among the most used tools.</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Identifies commonly adopted AI technologies.</a:t>
            </a:r>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AI Adoption Stage Distribution: </a:t>
            </a:r>
            <a:r>
              <a:rPr lang="en-US" sz="1400" dirty="0">
                <a:latin typeface="Abadi ExtraLight" panose="020B0204020104020204" pitchFamily="34" charset="0"/>
              </a:rPr>
              <a:t>Most companies are in the Integrating stage.</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Measures AI implementation maturity.</a:t>
            </a:r>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Fear of AI Replacement Distribution: </a:t>
            </a:r>
            <a:r>
              <a:rPr lang="en-US" sz="1400" dirty="0">
                <a:latin typeface="Abadi ExtraLight" panose="020B0204020104020204" pitchFamily="34" charset="0"/>
              </a:rPr>
              <a:t>Medium fear is the most common level among employees.</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measure employee AI concerns.</a:t>
            </a:r>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Attrition Risk Distribution</a:t>
            </a:r>
            <a:r>
              <a:rPr lang="en-US" sz="1400" b="1" dirty="0">
                <a:latin typeface="Abadi ExtraLight" panose="020B0204020104020204" pitchFamily="34" charset="0"/>
              </a:rPr>
              <a:t>: </a:t>
            </a:r>
            <a:r>
              <a:rPr lang="en-US" sz="1400" dirty="0">
                <a:latin typeface="Abadi ExtraLight" panose="020B0204020104020204" pitchFamily="34" charset="0"/>
              </a:rPr>
              <a:t>Most employees fall under Low or Medium attrition risk.</a:t>
            </a:r>
            <a:br>
              <a:rPr lang="en-US" sz="1400" dirty="0">
                <a:latin typeface="Abadi ExtraLight" panose="020B0204020104020204" pitchFamily="34" charset="0"/>
              </a:rPr>
            </a:br>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evaluate workforce retention stability.</a:t>
            </a:r>
            <a:br>
              <a:rPr lang="en-US" sz="1400" dirty="0">
                <a:latin typeface="Abadi ExtraLight" panose="020B0204020104020204" pitchFamily="34" charset="0"/>
              </a:rPr>
            </a:br>
            <a:endParaRPr lang="en-US" sz="1200" dirty="0">
              <a:latin typeface="Abadi ExtraLight" panose="020B0204020104020204" pitchFamily="34" charset="0"/>
            </a:endParaRPr>
          </a:p>
        </p:txBody>
      </p:sp>
      <p:pic>
        <p:nvPicPr>
          <p:cNvPr id="2" name="Picture 1">
            <a:extLst>
              <a:ext uri="{FF2B5EF4-FFF2-40B4-BE49-F238E27FC236}">
                <a16:creationId xmlns:a16="http://schemas.microsoft.com/office/drawing/2014/main" id="{E814BAD2-1F88-70A0-27B6-31AD7A0CD433}"/>
              </a:ext>
            </a:extLst>
          </p:cNvPr>
          <p:cNvPicPr>
            <a:picLocks noChangeAspect="1"/>
          </p:cNvPicPr>
          <p:nvPr/>
        </p:nvPicPr>
        <p:blipFill>
          <a:blip r:embed="rId3"/>
          <a:stretch>
            <a:fillRect/>
          </a:stretch>
        </p:blipFill>
        <p:spPr>
          <a:xfrm>
            <a:off x="6096000" y="483900"/>
            <a:ext cx="5416199" cy="26716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48387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E798F-97CE-6007-A9EF-88C1A71DA4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202A6BE-FFCD-D8B8-4CEA-00F8444F0C15}"/>
              </a:ext>
            </a:extLst>
          </p:cNvPr>
          <p:cNvSpPr txBox="1"/>
          <p:nvPr/>
        </p:nvSpPr>
        <p:spPr>
          <a:xfrm>
            <a:off x="913850" y="537369"/>
            <a:ext cx="6045746" cy="5693866"/>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Pivot Tables</a:t>
            </a:r>
          </a:p>
          <a:p>
            <a:endParaRPr lang="en-US" sz="1600" dirty="0">
              <a:solidFill>
                <a:schemeClr val="accent2">
                  <a:lumMod val="50000"/>
                </a:schemeClr>
              </a:solidFill>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Attrition Risk by Job Role</a:t>
            </a:r>
          </a:p>
          <a:p>
            <a:endParaRPr lang="en-US" sz="1600" dirty="0">
              <a:solidFill>
                <a:schemeClr val="accent2">
                  <a:lumMod val="50000"/>
                </a:schemeClr>
              </a:solidFill>
              <a:latin typeface="Abadi ExtraLight" panose="020B0204020104020204" pitchFamily="34" charset="0"/>
            </a:endParaRPr>
          </a:p>
          <a:p>
            <a:r>
              <a:rPr lang="en-US" sz="1400" dirty="0">
                <a:latin typeface="Abadi ExtraLight" panose="020B0204020104020204" pitchFamily="34" charset="0"/>
              </a:rPr>
              <a:t>Most job roles have a higher number of employees in the Low and Medium attrition risk categories. </a:t>
            </a:r>
          </a:p>
          <a:p>
            <a:r>
              <a:rPr lang="en-US" sz="1400" dirty="0">
                <a:latin typeface="Abadi ExtraLight" panose="020B0204020104020204" pitchFamily="34" charset="0"/>
              </a:rPr>
              <a:t>Software Engineers have the largest workforce and the highest number of Medium-risk employees. </a:t>
            </a:r>
          </a:p>
          <a:p>
            <a:r>
              <a:rPr lang="en-US" sz="1400" dirty="0">
                <a:latin typeface="Abadi ExtraLight" panose="020B0204020104020204" pitchFamily="34" charset="0"/>
              </a:rPr>
              <a:t>Data Scientists and AI Researchers also show relatively high Medium attrition risk levels. </a:t>
            </a:r>
          </a:p>
          <a:p>
            <a:r>
              <a:rPr lang="en-US" sz="1400" dirty="0">
                <a:latin typeface="Abadi ExtraLight" panose="020B0204020104020204" pitchFamily="34" charset="0"/>
              </a:rPr>
              <a:t>High-risk employees represent a smaller portion across all job roles. </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Identifies job roles that may require additional retention efforts and employee support.</a:t>
            </a:r>
          </a:p>
          <a:p>
            <a:br>
              <a:rPr lang="en-US" sz="1600" dirty="0">
                <a:latin typeface="Abadi ExtraLight" panose="020B0204020104020204" pitchFamily="34" charset="0"/>
              </a:rPr>
            </a:br>
            <a:endParaRPr lang="en-US" sz="16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Average Salary by Attrition Risk and Job Role</a:t>
            </a:r>
          </a:p>
          <a:p>
            <a:endParaRPr lang="en-US" sz="1600" dirty="0">
              <a:solidFill>
                <a:schemeClr val="accent2">
                  <a:lumMod val="50000"/>
                </a:schemeClr>
              </a:solidFill>
              <a:latin typeface="Abadi ExtraLight" panose="020B0204020104020204" pitchFamily="34" charset="0"/>
            </a:endParaRPr>
          </a:p>
          <a:p>
            <a:r>
              <a:rPr lang="en-US" sz="1400" dirty="0">
                <a:latin typeface="Abadi ExtraLight" panose="020B0204020104020204" pitchFamily="34" charset="0"/>
              </a:rPr>
              <a:t>Employees with High attrition risk generally have higher average salaries in several roles. </a:t>
            </a:r>
          </a:p>
          <a:p>
            <a:r>
              <a:rPr lang="en-US" sz="1400" dirty="0">
                <a:latin typeface="Abadi ExtraLight" panose="020B0204020104020204" pitchFamily="34" charset="0"/>
              </a:rPr>
              <a:t>Data Scientists and Cloud Architects show some of the highest average salaries among high-risk employees. </a:t>
            </a:r>
          </a:p>
          <a:p>
            <a:r>
              <a:rPr lang="en-US" sz="1400" dirty="0">
                <a:latin typeface="Abadi ExtraLight" panose="020B0204020104020204" pitchFamily="34" charset="0"/>
              </a:rPr>
              <a:t>Low-risk employees tend to have more stable salary distributions across roles. </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determine whether compensation alone is sufficient to retain employees and highlights roles where other factors may drive attrition.</a:t>
            </a:r>
          </a:p>
        </p:txBody>
      </p:sp>
      <p:cxnSp>
        <p:nvCxnSpPr>
          <p:cNvPr id="8" name="Straight Connector 7">
            <a:extLst>
              <a:ext uri="{FF2B5EF4-FFF2-40B4-BE49-F238E27FC236}">
                <a16:creationId xmlns:a16="http://schemas.microsoft.com/office/drawing/2014/main" id="{D273AEBE-F46D-9E31-2A1A-A1B8138B9693}"/>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38213BB-C9AA-2FEB-BB98-3E6A15042586}"/>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64FA14D-3F11-58AB-F263-7587757404BA}"/>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7307313-7C82-5E7A-8A4D-BFBBB9A5E697}"/>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E6A7FF72-011C-409B-0DDC-F0EBC5F77187}"/>
              </a:ext>
            </a:extLst>
          </p:cNvPr>
          <p:cNvPicPr>
            <a:picLocks noChangeAspect="1"/>
          </p:cNvPicPr>
          <p:nvPr/>
        </p:nvPicPr>
        <p:blipFill>
          <a:blip r:embed="rId3"/>
          <a:stretch>
            <a:fillRect/>
          </a:stretch>
        </p:blipFill>
        <p:spPr>
          <a:xfrm>
            <a:off x="7673496" y="847725"/>
            <a:ext cx="3604643" cy="2571785"/>
          </a:xfrm>
          <a:prstGeom prst="rect">
            <a:avLst/>
          </a:prstGeom>
        </p:spPr>
      </p:pic>
      <p:pic>
        <p:nvPicPr>
          <p:cNvPr id="14" name="Picture 13">
            <a:extLst>
              <a:ext uri="{FF2B5EF4-FFF2-40B4-BE49-F238E27FC236}">
                <a16:creationId xmlns:a16="http://schemas.microsoft.com/office/drawing/2014/main" id="{1EB179AE-6748-F87D-5B9B-BD6357BA65C8}"/>
              </a:ext>
            </a:extLst>
          </p:cNvPr>
          <p:cNvPicPr>
            <a:picLocks noChangeAspect="1"/>
          </p:cNvPicPr>
          <p:nvPr/>
        </p:nvPicPr>
        <p:blipFill>
          <a:blip r:embed="rId4"/>
          <a:stretch>
            <a:fillRect/>
          </a:stretch>
        </p:blipFill>
        <p:spPr>
          <a:xfrm>
            <a:off x="7673497" y="3632200"/>
            <a:ext cx="3315037" cy="2457450"/>
          </a:xfrm>
          <a:prstGeom prst="rect">
            <a:avLst/>
          </a:prstGeom>
        </p:spPr>
      </p:pic>
    </p:spTree>
    <p:extLst>
      <p:ext uri="{BB962C8B-B14F-4D97-AF65-F5344CB8AC3E}">
        <p14:creationId xmlns:p14="http://schemas.microsoft.com/office/powerpoint/2010/main" val="1584966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3A68-C162-1C3C-0731-1043D683C61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53F95D9-A5D9-EC6B-55C0-224791564690}"/>
              </a:ext>
            </a:extLst>
          </p:cNvPr>
          <p:cNvSpPr txBox="1"/>
          <p:nvPr/>
        </p:nvSpPr>
        <p:spPr>
          <a:xfrm>
            <a:off x="913850" y="537369"/>
            <a:ext cx="6045746" cy="6124754"/>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Pivot Tables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Fear of AI Replacement by Attrition Risk</a:t>
            </a:r>
          </a:p>
          <a:p>
            <a:endParaRPr lang="en-US" sz="1600" dirty="0">
              <a:latin typeface="Abadi ExtraLight" panose="020B0204020104020204" pitchFamily="34" charset="0"/>
            </a:endParaRPr>
          </a:p>
          <a:p>
            <a:r>
              <a:rPr lang="en-US" sz="1400" dirty="0">
                <a:latin typeface="Abadi ExtraLight" panose="020B0204020104020204" pitchFamily="34" charset="0"/>
              </a:rPr>
              <a:t>Employees with High fear of AI replacement have significantly more Medium and High attrition risk cases, while employees with Low or Medium fear are more likely to fall under Low attrition risk.</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assess how concerns about AI adoption influence employee retention and workforce stability.</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Job Satisfaction by Attrition Risk</a:t>
            </a:r>
          </a:p>
          <a:p>
            <a:endParaRPr lang="en-US" sz="1600" dirty="0">
              <a:solidFill>
                <a:schemeClr val="accent2">
                  <a:lumMod val="50000"/>
                </a:schemeClr>
              </a:solidFill>
              <a:latin typeface="Abadi ExtraLight" panose="020B0204020104020204" pitchFamily="34" charset="0"/>
            </a:endParaRPr>
          </a:p>
          <a:p>
            <a:r>
              <a:rPr lang="en-US" sz="1400" dirty="0">
                <a:latin typeface="Abadi ExtraLight" panose="020B0204020104020204" pitchFamily="34" charset="0"/>
              </a:rPr>
              <a:t>Employees with Low attrition risk have the highest average job satisfaction score (3.69), while employees with High attrition risk have the lowest satisfaction level (2.66).</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Measures how employee satisfaction influences retention and engagement.</a:t>
            </a:r>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Burnout Score by Attrition Risk</a:t>
            </a:r>
          </a:p>
          <a:p>
            <a:endParaRPr lang="en-US" sz="1600" dirty="0">
              <a:solidFill>
                <a:schemeClr val="accent2">
                  <a:lumMod val="50000"/>
                </a:schemeClr>
              </a:solidFill>
              <a:latin typeface="Abadi ExtraLight" panose="020B0204020104020204" pitchFamily="34" charset="0"/>
            </a:endParaRPr>
          </a:p>
          <a:p>
            <a:r>
              <a:rPr lang="en-US" sz="1400" dirty="0">
                <a:latin typeface="Abadi ExtraLight" panose="020B0204020104020204" pitchFamily="34" charset="0"/>
              </a:rPr>
              <a:t>Employees with High attrition risk have the highest average burnout score (60.5), while employees with Low attrition risk have the lowest burnout level (44.03).</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identify burnout as a potential driver of employee turnover.</a:t>
            </a:r>
          </a:p>
          <a:p>
            <a:br>
              <a:rPr lang="en-US" sz="1600" dirty="0"/>
            </a:br>
            <a:endParaRPr lang="en-US" sz="1400" dirty="0">
              <a:latin typeface="Abadi ExtraLight" panose="020B0204020104020204" pitchFamily="34" charset="0"/>
            </a:endParaRPr>
          </a:p>
        </p:txBody>
      </p:sp>
      <p:cxnSp>
        <p:nvCxnSpPr>
          <p:cNvPr id="8" name="Straight Connector 7">
            <a:extLst>
              <a:ext uri="{FF2B5EF4-FFF2-40B4-BE49-F238E27FC236}">
                <a16:creationId xmlns:a16="http://schemas.microsoft.com/office/drawing/2014/main" id="{F60FA59D-907B-C503-4A77-6068A518B035}"/>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969ED51-189B-CF79-8C79-F76DB20ED622}"/>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BB20A46-82C6-A0C9-0286-4CFE3EF12D5F}"/>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43C503-46F6-B293-8BD6-576A70CE4F86}"/>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FF999E8F-EAEB-24C4-BF95-53E558225011}"/>
              </a:ext>
            </a:extLst>
          </p:cNvPr>
          <p:cNvPicPr>
            <a:picLocks noChangeAspect="1"/>
          </p:cNvPicPr>
          <p:nvPr/>
        </p:nvPicPr>
        <p:blipFill>
          <a:blip r:embed="rId3"/>
          <a:stretch>
            <a:fillRect/>
          </a:stretch>
        </p:blipFill>
        <p:spPr>
          <a:xfrm>
            <a:off x="8010522" y="1285875"/>
            <a:ext cx="3076571" cy="1352550"/>
          </a:xfrm>
          <a:prstGeom prst="rect">
            <a:avLst/>
          </a:prstGeom>
        </p:spPr>
      </p:pic>
      <p:pic>
        <p:nvPicPr>
          <p:cNvPr id="5" name="Picture 4">
            <a:extLst>
              <a:ext uri="{FF2B5EF4-FFF2-40B4-BE49-F238E27FC236}">
                <a16:creationId xmlns:a16="http://schemas.microsoft.com/office/drawing/2014/main" id="{48486613-8CEE-4ED0-EF88-81B5BF44B92B}"/>
              </a:ext>
            </a:extLst>
          </p:cNvPr>
          <p:cNvPicPr>
            <a:picLocks noChangeAspect="1"/>
          </p:cNvPicPr>
          <p:nvPr/>
        </p:nvPicPr>
        <p:blipFill>
          <a:blip r:embed="rId4"/>
          <a:stretch>
            <a:fillRect/>
          </a:stretch>
        </p:blipFill>
        <p:spPr>
          <a:xfrm>
            <a:off x="7867648" y="2994025"/>
            <a:ext cx="3219448" cy="1304925"/>
          </a:xfrm>
          <a:prstGeom prst="rect">
            <a:avLst/>
          </a:prstGeom>
        </p:spPr>
      </p:pic>
      <p:pic>
        <p:nvPicPr>
          <p:cNvPr id="13" name="Picture 12">
            <a:extLst>
              <a:ext uri="{FF2B5EF4-FFF2-40B4-BE49-F238E27FC236}">
                <a16:creationId xmlns:a16="http://schemas.microsoft.com/office/drawing/2014/main" id="{CB62AA20-BC84-D618-06E9-1E90ABC6A5F0}"/>
              </a:ext>
            </a:extLst>
          </p:cNvPr>
          <p:cNvPicPr>
            <a:picLocks noChangeAspect="1"/>
          </p:cNvPicPr>
          <p:nvPr/>
        </p:nvPicPr>
        <p:blipFill>
          <a:blip r:embed="rId5"/>
          <a:stretch>
            <a:fillRect/>
          </a:stretch>
        </p:blipFill>
        <p:spPr>
          <a:xfrm>
            <a:off x="7943852" y="4654550"/>
            <a:ext cx="3334298" cy="1314450"/>
          </a:xfrm>
          <a:prstGeom prst="rect">
            <a:avLst/>
          </a:prstGeom>
        </p:spPr>
      </p:pic>
    </p:spTree>
    <p:extLst>
      <p:ext uri="{BB962C8B-B14F-4D97-AF65-F5344CB8AC3E}">
        <p14:creationId xmlns:p14="http://schemas.microsoft.com/office/powerpoint/2010/main" val="2359782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CE07-DE76-1924-35B8-B856B59422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8A3117-7136-F029-33B8-3908A55E1455}"/>
              </a:ext>
            </a:extLst>
          </p:cNvPr>
          <p:cNvSpPr txBox="1"/>
          <p:nvPr/>
        </p:nvSpPr>
        <p:spPr>
          <a:xfrm>
            <a:off x="913849" y="537369"/>
            <a:ext cx="6545797" cy="5570756"/>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Charts…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Fear of AI Replacement vs Attrition Risk</a:t>
            </a:r>
          </a:p>
          <a:p>
            <a:r>
              <a:rPr lang="en-US" sz="1400" dirty="0">
                <a:latin typeface="Abadi ExtraLight" panose="020B0204020104020204" pitchFamily="34" charset="0"/>
              </a:rPr>
              <a:t>The chart shows a clear relationship between fear of AI replacement and attrition risk. Employees with High fear of AI replacement are more likely to have Medium or High attrition risk, while employees with Low fear are predominantly associated with Low attrition risk.</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understand how employee concerns about AI adoption impact workforce retention and supports better communication, training, and change management strategies.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Burnout Score by Attrition Risk</a:t>
            </a:r>
          </a:p>
          <a:p>
            <a:r>
              <a:rPr lang="en-US" sz="1400" dirty="0">
                <a:latin typeface="Abadi ExtraLight" panose="020B0204020104020204" pitchFamily="34" charset="0"/>
              </a:rPr>
              <a:t>The violin plot illustrates the distribution of burnout scores across attrition risk levels. Employees with High attrition risk exhibit the highest burnout levels, while employees with Low attrition risk show noticeably lower burnout scores.</a:t>
            </a:r>
          </a:p>
          <a:p>
            <a:r>
              <a:rPr lang="en-US" sz="1400" dirty="0">
                <a:latin typeface="Abadi ExtraLight" panose="020B0204020104020204" pitchFamily="34" charset="0"/>
              </a:rPr>
              <a:t>Business Use: Helps organizations identify burnout as a key workforce challenge and supports employee wellbeing and retention initiatives.</a:t>
            </a:r>
          </a:p>
          <a:p>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Job Satisfaction by Attrition Risk</a:t>
            </a:r>
          </a:p>
          <a:p>
            <a:r>
              <a:rPr lang="en-US" sz="1400" dirty="0">
                <a:latin typeface="Abadi ExtraLight" panose="020B0204020104020204" pitchFamily="34" charset="0"/>
              </a:rPr>
              <a:t>The boxplot shows that employees with Low attrition risk have the highest job satisfaction levels, while employees with High attrition risk report the lowest satisfaction scores.</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evaluate how employee satisfaction influences retention and supports initiatives aimed at improving engagement and workplace experience.</a:t>
            </a:r>
          </a:p>
        </p:txBody>
      </p:sp>
      <p:cxnSp>
        <p:nvCxnSpPr>
          <p:cNvPr id="8" name="Straight Connector 7">
            <a:extLst>
              <a:ext uri="{FF2B5EF4-FFF2-40B4-BE49-F238E27FC236}">
                <a16:creationId xmlns:a16="http://schemas.microsoft.com/office/drawing/2014/main" id="{DA3DC51B-622F-136B-1813-49AC15F615D6}"/>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5E75B59-A532-4732-FC79-06D2F13E6BE6}"/>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A6BA13F-8B00-6161-96DB-894A8690CAF2}"/>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C36FD1F-37BD-D417-14BC-194F9CD06653}"/>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D469000F-DC63-0E4A-84E9-C614BDA8F649}"/>
              </a:ext>
            </a:extLst>
          </p:cNvPr>
          <p:cNvPicPr>
            <a:picLocks noChangeAspect="1"/>
          </p:cNvPicPr>
          <p:nvPr/>
        </p:nvPicPr>
        <p:blipFill>
          <a:blip r:embed="rId3"/>
          <a:stretch>
            <a:fillRect/>
          </a:stretch>
        </p:blipFill>
        <p:spPr>
          <a:xfrm>
            <a:off x="7675558" y="537369"/>
            <a:ext cx="3989377" cy="18883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40D90550-6E1B-3FCA-0AC2-9297A77EA7A6}"/>
              </a:ext>
            </a:extLst>
          </p:cNvPr>
          <p:cNvPicPr>
            <a:picLocks noChangeAspect="1"/>
          </p:cNvPicPr>
          <p:nvPr/>
        </p:nvPicPr>
        <p:blipFill>
          <a:blip r:embed="rId4"/>
          <a:stretch>
            <a:fillRect/>
          </a:stretch>
        </p:blipFill>
        <p:spPr>
          <a:xfrm>
            <a:off x="7675558" y="2662604"/>
            <a:ext cx="3989373" cy="18551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47ED41E3-5515-3B35-002C-AD180C7FAA66}"/>
              </a:ext>
            </a:extLst>
          </p:cNvPr>
          <p:cNvPicPr>
            <a:picLocks noChangeAspect="1"/>
          </p:cNvPicPr>
          <p:nvPr/>
        </p:nvPicPr>
        <p:blipFill>
          <a:blip r:embed="rId5"/>
          <a:stretch>
            <a:fillRect/>
          </a:stretch>
        </p:blipFill>
        <p:spPr>
          <a:xfrm>
            <a:off x="7675559" y="4741737"/>
            <a:ext cx="3989372" cy="17272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59805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EAC5-3D24-A55C-742A-E968C5BEAA0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2154F14-481C-0F24-BE2E-84E9DA517736}"/>
              </a:ext>
            </a:extLst>
          </p:cNvPr>
          <p:cNvSpPr txBox="1"/>
          <p:nvPr/>
        </p:nvSpPr>
        <p:spPr>
          <a:xfrm>
            <a:off x="913849" y="537369"/>
            <a:ext cx="6545797" cy="6001643"/>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Charts…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AI Replacement % vs Burnout Score</a:t>
            </a:r>
            <a:br>
              <a:rPr lang="en-US" sz="1400" dirty="0">
                <a:latin typeface="Abadi ExtraLight" panose="020B0204020104020204" pitchFamily="34" charset="0"/>
              </a:rPr>
            </a:br>
            <a:r>
              <a:rPr lang="en-US" sz="1400" dirty="0">
                <a:latin typeface="Abadi ExtraLight" panose="020B0204020104020204" pitchFamily="34" charset="0"/>
              </a:rPr>
              <a:t>The scatter plot shows a positive relationship between the percentage of tasks employees believe AI can replace and their burnout scores. Employees who perceive higher levels of AI replacement generally report higher burnout levels. High attrition risk employees are more concentrated in the upper burnout range.</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understand how AI-related concerns may impact employee wellbeing and identify employees who may require additional support during AI transformation initiatives.</a:t>
            </a:r>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Attrition Risk by Job Role</a:t>
            </a:r>
            <a:br>
              <a:rPr lang="en-US" sz="1400" dirty="0">
                <a:latin typeface="Abadi ExtraLight" panose="020B0204020104020204" pitchFamily="34" charset="0"/>
              </a:rPr>
            </a:br>
            <a:r>
              <a:rPr lang="en-US" sz="1400" dirty="0">
                <a:latin typeface="Abadi ExtraLight" panose="020B0204020104020204" pitchFamily="34" charset="0"/>
              </a:rPr>
              <a:t>The chart compares attrition risk across different job roles. Most roles are dominated by Low and Medium attrition risk employees, while High attrition risk remains relatively low. Software Engineers, Data Scientists, and AI Researchers show higher employee counts overall.</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identify workforce segments that may require targeted retention programs and workforce planning strategies.</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Salary vs Burnout Score</a:t>
            </a:r>
            <a:br>
              <a:rPr lang="en-US" sz="1400" dirty="0">
                <a:latin typeface="Abadi ExtraLight" panose="020B0204020104020204" pitchFamily="34" charset="0"/>
              </a:rPr>
            </a:br>
            <a:r>
              <a:rPr lang="en-US" sz="1400" dirty="0">
                <a:latin typeface="Abadi ExtraLight" panose="020B0204020104020204" pitchFamily="34" charset="0"/>
              </a:rPr>
              <a:t>The scatter plot shows the relationship between employee salary and burnout score across different attrition risk levels. Burnout levels vary widely at all salary ranges, indicating that higher salaries do not necessarily reduce burnout. Employees with Medium and High attrition risk are present across nearly all salary levels.</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recognize that compensation alone may not address employee burnout and that additional wellbeing initiatives may be required.</a:t>
            </a:r>
          </a:p>
        </p:txBody>
      </p:sp>
      <p:cxnSp>
        <p:nvCxnSpPr>
          <p:cNvPr id="8" name="Straight Connector 7">
            <a:extLst>
              <a:ext uri="{FF2B5EF4-FFF2-40B4-BE49-F238E27FC236}">
                <a16:creationId xmlns:a16="http://schemas.microsoft.com/office/drawing/2014/main" id="{944D6CC7-C4C1-9E09-85E1-9D7792AFBB8E}"/>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4BB2235-65FA-FE55-C97D-06792550B107}"/>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E474EBE-48FA-9738-F5E8-DC998247F499}"/>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F496FF5-30F5-0A8D-FF0B-8E943B1B0399}"/>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C0AC2B03-C2C2-DC59-39D1-578DF94D6D73}"/>
              </a:ext>
            </a:extLst>
          </p:cNvPr>
          <p:cNvPicPr>
            <a:picLocks noChangeAspect="1"/>
          </p:cNvPicPr>
          <p:nvPr/>
        </p:nvPicPr>
        <p:blipFill>
          <a:blip r:embed="rId3"/>
          <a:stretch>
            <a:fillRect/>
          </a:stretch>
        </p:blipFill>
        <p:spPr>
          <a:xfrm>
            <a:off x="7626353" y="438398"/>
            <a:ext cx="4038574" cy="19042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4D332605-2025-FFE7-D74E-A547E3B2EBE5}"/>
              </a:ext>
            </a:extLst>
          </p:cNvPr>
          <p:cNvPicPr>
            <a:picLocks noChangeAspect="1"/>
          </p:cNvPicPr>
          <p:nvPr/>
        </p:nvPicPr>
        <p:blipFill>
          <a:blip r:embed="rId4"/>
          <a:stretch>
            <a:fillRect/>
          </a:stretch>
        </p:blipFill>
        <p:spPr>
          <a:xfrm>
            <a:off x="7626327" y="2613521"/>
            <a:ext cx="4038600" cy="18097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448BBF80-1C97-842B-8C4E-159854380D5A}"/>
              </a:ext>
            </a:extLst>
          </p:cNvPr>
          <p:cNvPicPr>
            <a:picLocks noChangeAspect="1"/>
          </p:cNvPicPr>
          <p:nvPr/>
        </p:nvPicPr>
        <p:blipFill>
          <a:blip r:embed="rId5"/>
          <a:stretch>
            <a:fillRect/>
          </a:stretch>
        </p:blipFill>
        <p:spPr>
          <a:xfrm>
            <a:off x="7626327" y="4711699"/>
            <a:ext cx="4038596" cy="18986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00624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AFCD0-B70A-ED0D-E1B1-E59284408B0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9B55C01-0C2A-B091-502E-1B7E04B4C206}"/>
              </a:ext>
            </a:extLst>
          </p:cNvPr>
          <p:cNvSpPr txBox="1"/>
          <p:nvPr/>
        </p:nvSpPr>
        <p:spPr>
          <a:xfrm>
            <a:off x="913848" y="1146235"/>
            <a:ext cx="6545797" cy="4524315"/>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Charts…</a:t>
            </a:r>
          </a:p>
          <a:p>
            <a:endParaRPr lang="en-US" sz="1600" dirty="0">
              <a:solidFill>
                <a:schemeClr val="accent2">
                  <a:lumMod val="50000"/>
                </a:schemeClr>
              </a:solidFill>
              <a:latin typeface="Abadi ExtraLight" panose="020B0204020104020204" pitchFamily="34" charset="0"/>
            </a:endParaRPr>
          </a:p>
          <a:p>
            <a:endParaRPr lang="en-US" sz="1600" dirty="0">
              <a:solidFill>
                <a:schemeClr val="accent2">
                  <a:lumMod val="50000"/>
                </a:schemeClr>
              </a:solidFill>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Years of Experience vs Salary</a:t>
            </a:r>
            <a:br>
              <a:rPr lang="en-US" sz="1600" dirty="0">
                <a:solidFill>
                  <a:schemeClr val="accent2">
                    <a:lumMod val="50000"/>
                  </a:schemeClr>
                </a:solidFill>
                <a:latin typeface="Abadi ExtraLight" panose="020B0204020104020204" pitchFamily="34" charset="0"/>
              </a:rPr>
            </a:br>
            <a:r>
              <a:rPr lang="en-US" sz="1400" dirty="0">
                <a:latin typeface="Abadi ExtraLight" panose="020B0204020104020204" pitchFamily="34" charset="0"/>
              </a:rPr>
              <a:t>The scatter plot illustrates the relationship between years of experience and salary across different attrition risk levels. Salaries are distributed across all experience levels, with Medium attrition risk employees representing the largest group. Higher experience does not always correspond to lower attrition risk.</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evaluate compensation patterns based on employee experience and assess whether salary growth supports workforce retention.</a:t>
            </a:r>
          </a:p>
          <a:p>
            <a:br>
              <a:rPr lang="en-US" sz="1400" dirty="0">
                <a:latin typeface="Abadi ExtraLight" panose="020B0204020104020204" pitchFamily="34" charset="0"/>
              </a:rPr>
            </a:br>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Salary Distribution by Job Role</a:t>
            </a:r>
            <a:br>
              <a:rPr lang="en-US" sz="1400" dirty="0">
                <a:latin typeface="Abadi ExtraLight" panose="020B0204020104020204" pitchFamily="34" charset="0"/>
              </a:rPr>
            </a:br>
            <a:r>
              <a:rPr lang="en-US" sz="1400" dirty="0">
                <a:latin typeface="Abadi ExtraLight" panose="020B0204020104020204" pitchFamily="34" charset="0"/>
              </a:rPr>
              <a:t>The bar chart compares average salaries across different job roles. Roles such as Cloud Architect, Software Engineer, Data Analyst, and AI Ethics Officer have relatively higher average salaries, while Frontend Engineer and Product Manager show comparatively lower salary levels.</a:t>
            </a:r>
          </a:p>
          <a:p>
            <a:r>
              <a:rPr lang="en-US" sz="1400" dirty="0">
                <a:solidFill>
                  <a:schemeClr val="accent2">
                    <a:lumMod val="50000"/>
                  </a:schemeClr>
                </a:solidFill>
                <a:latin typeface="Abadi ExtraLight" panose="020B0204020104020204" pitchFamily="34" charset="0"/>
              </a:rPr>
              <a:t>Business Use: </a:t>
            </a:r>
            <a:r>
              <a:rPr lang="en-US" sz="1400" dirty="0">
                <a:latin typeface="Abadi ExtraLight" panose="020B0204020104020204" pitchFamily="34" charset="0"/>
              </a:rPr>
              <a:t>Helps organizations assess salary competitiveness across job roles and supports compensation planning, budgeting, and talent retention efforts.</a:t>
            </a:r>
          </a:p>
        </p:txBody>
      </p:sp>
      <p:cxnSp>
        <p:nvCxnSpPr>
          <p:cNvPr id="8" name="Straight Connector 7">
            <a:extLst>
              <a:ext uri="{FF2B5EF4-FFF2-40B4-BE49-F238E27FC236}">
                <a16:creationId xmlns:a16="http://schemas.microsoft.com/office/drawing/2014/main" id="{86197F77-C227-D053-AC68-321D7922F0C9}"/>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25496F5-C89A-0BFD-72E5-C3B0CAB15B3E}"/>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2EE76EA-26E5-77E6-BA02-4C798CED1E41}"/>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8800EBC-114F-5CFA-DD81-B1C69B8BF139}"/>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C2E2E906-EE20-2C73-AC9A-A3B4B301390E}"/>
              </a:ext>
            </a:extLst>
          </p:cNvPr>
          <p:cNvPicPr>
            <a:picLocks noChangeAspect="1"/>
          </p:cNvPicPr>
          <p:nvPr/>
        </p:nvPicPr>
        <p:blipFill>
          <a:blip r:embed="rId3"/>
          <a:stretch>
            <a:fillRect/>
          </a:stretch>
        </p:blipFill>
        <p:spPr>
          <a:xfrm>
            <a:off x="7776594" y="1266824"/>
            <a:ext cx="3869306" cy="2073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E9116A63-E62D-D17B-4F12-7C9F828EFCF6}"/>
              </a:ext>
            </a:extLst>
          </p:cNvPr>
          <p:cNvPicPr>
            <a:picLocks noChangeAspect="1"/>
          </p:cNvPicPr>
          <p:nvPr/>
        </p:nvPicPr>
        <p:blipFill>
          <a:blip r:embed="rId4"/>
          <a:stretch>
            <a:fillRect/>
          </a:stretch>
        </p:blipFill>
        <p:spPr>
          <a:xfrm>
            <a:off x="7776593" y="3708400"/>
            <a:ext cx="3869301" cy="19621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24556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D4276-72F6-6DEE-44FA-69D81807C04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92BAB05-0F48-9484-17C0-BAB542BBA00E}"/>
              </a:ext>
            </a:extLst>
          </p:cNvPr>
          <p:cNvSpPr txBox="1"/>
          <p:nvPr/>
        </p:nvSpPr>
        <p:spPr>
          <a:xfrm>
            <a:off x="822326" y="743664"/>
            <a:ext cx="5379002" cy="5632311"/>
          </a:xfrm>
          <a:prstGeom prst="rect">
            <a:avLst/>
          </a:prstGeom>
          <a:noFill/>
        </p:spPr>
        <p:txBody>
          <a:bodyPr wrap="square">
            <a:spAutoFit/>
          </a:bodyPr>
          <a:lstStyle/>
          <a:p>
            <a:r>
              <a:rPr lang="en-US" sz="2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Employee Attrition &amp; AI Impact Dashboard</a:t>
            </a:r>
          </a:p>
          <a:p>
            <a:endParaRPr lang="en-US" sz="1400" b="1"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Dashboard Purpose</a:t>
            </a:r>
          </a:p>
          <a:p>
            <a:r>
              <a:rPr lang="en-US" sz="1200" dirty="0">
                <a:latin typeface="Abadi ExtraLight" panose="020B0204020104020204" pitchFamily="34" charset="0"/>
              </a:rPr>
              <a:t>This dashboard analyzes employee attrition risk, burnout, productivity, job satisfaction, salary, and AI-related concerns. It helps organizations identify workforce challenges, understand the impact of AI adoption, and improve employee retention strategies.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KPI Cards</a:t>
            </a:r>
          </a:p>
          <a:p>
            <a:r>
              <a:rPr lang="en-US" sz="1200" dirty="0">
                <a:latin typeface="Abadi ExtraLight" panose="020B0204020104020204" pitchFamily="34" charset="0"/>
              </a:rPr>
              <a:t>Total Employees, Average Burnout Score, Average Productivity Score, Attrition Risk %, AI Fear %, Average Salary, &amp; Average Job Satisfaction</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Provides a quick overview of workforce performance and employee wellbeing.</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Burnout vs Productivity (Bubble Chart)</a:t>
            </a:r>
          </a:p>
          <a:p>
            <a:r>
              <a:rPr lang="en-US" sz="1200" dirty="0">
                <a:latin typeface="Abadi ExtraLight" panose="020B0204020104020204" pitchFamily="34" charset="0"/>
              </a:rPr>
              <a:t>Shows the relationship between burnout, productivity, and attrition risk levels.</a:t>
            </a:r>
          </a:p>
          <a:p>
            <a:r>
              <a:rPr lang="en-US" sz="1200" dirty="0">
                <a:solidFill>
                  <a:schemeClr val="accent2">
                    <a:lumMod val="50000"/>
                  </a:schemeClr>
                </a:solidFill>
                <a:latin typeface="Abadi ExtraLight" panose="020B0204020104020204" pitchFamily="34" charset="0"/>
              </a:rPr>
              <a:t>Business Use</a:t>
            </a:r>
            <a:r>
              <a:rPr lang="en-US" sz="1200" b="1" dirty="0">
                <a:latin typeface="Abadi ExtraLight" panose="020B0204020104020204" pitchFamily="34" charset="0"/>
              </a:rPr>
              <a:t>:</a:t>
            </a:r>
            <a:r>
              <a:rPr lang="en-US" sz="1200" dirty="0">
                <a:latin typeface="Abadi ExtraLight" panose="020B0204020104020204" pitchFamily="34" charset="0"/>
              </a:rPr>
              <a:t> Helps identify whether employee burnout affects productivity and retention.</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AI Fear Impact on Satisfaction (Bar Chart)</a:t>
            </a:r>
          </a:p>
          <a:p>
            <a:r>
              <a:rPr lang="en-US" sz="1200" dirty="0">
                <a:latin typeface="Abadi ExtraLight" panose="020B0204020104020204" pitchFamily="34" charset="0"/>
              </a:rPr>
              <a:t>Compares employee satisfaction across different levels of fear of AI replacement.</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organizations understand how AI-related concerns influence employee morale.</a:t>
            </a:r>
          </a:p>
          <a:p>
            <a:endParaRPr lang="en-US" sz="12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Attrition Risk by Burnout (Line Chart)</a:t>
            </a:r>
          </a:p>
          <a:p>
            <a:r>
              <a:rPr lang="en-US" sz="1200" dirty="0">
                <a:latin typeface="Abadi ExtraLight" panose="020B0204020104020204" pitchFamily="34" charset="0"/>
              </a:rPr>
              <a:t>Displays the relationship between burnout levels and employee attrition risk.</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identify burnout thresholds associated with increased turnover risk.</a:t>
            </a:r>
          </a:p>
        </p:txBody>
      </p:sp>
      <p:cxnSp>
        <p:nvCxnSpPr>
          <p:cNvPr id="8" name="Straight Connector 7">
            <a:extLst>
              <a:ext uri="{FF2B5EF4-FFF2-40B4-BE49-F238E27FC236}">
                <a16:creationId xmlns:a16="http://schemas.microsoft.com/office/drawing/2014/main" id="{6B506162-BB59-0E61-EACA-C370BE7C4591}"/>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4BE92FB-077C-516A-F862-2CD4C481ABFC}"/>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364843F-5493-A7F1-B4C3-DCDC1DCF3E97}"/>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67A5277-EDE3-2556-0C3C-9961AF04CE2F}"/>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5AAB495A-3AAB-F66D-1AA7-E986DE289264}"/>
              </a:ext>
            </a:extLst>
          </p:cNvPr>
          <p:cNvPicPr>
            <a:picLocks noChangeAspect="1"/>
          </p:cNvPicPr>
          <p:nvPr/>
        </p:nvPicPr>
        <p:blipFill>
          <a:blip r:embed="rId3"/>
          <a:stretch>
            <a:fillRect/>
          </a:stretch>
        </p:blipFill>
        <p:spPr>
          <a:xfrm>
            <a:off x="6426753" y="720746"/>
            <a:ext cx="5099325" cy="2577435"/>
          </a:xfrm>
          <a:prstGeom prst="rect">
            <a:avLst/>
          </a:prstGeom>
          <a:ln>
            <a:noFill/>
          </a:ln>
          <a:effectLst>
            <a:softEdge rad="112500"/>
          </a:effectLst>
        </p:spPr>
      </p:pic>
      <p:sp>
        <p:nvSpPr>
          <p:cNvPr id="7" name="TextBox 6">
            <a:extLst>
              <a:ext uri="{FF2B5EF4-FFF2-40B4-BE49-F238E27FC236}">
                <a16:creationId xmlns:a16="http://schemas.microsoft.com/office/drawing/2014/main" id="{BFDA61BA-3734-27DF-9E92-94E1AD32EED1}"/>
              </a:ext>
            </a:extLst>
          </p:cNvPr>
          <p:cNvSpPr txBox="1"/>
          <p:nvPr/>
        </p:nvSpPr>
        <p:spPr>
          <a:xfrm>
            <a:off x="6274084" y="3559819"/>
            <a:ext cx="5486115" cy="2677656"/>
          </a:xfrm>
          <a:prstGeom prst="rect">
            <a:avLst/>
          </a:prstGeom>
          <a:noFill/>
        </p:spPr>
        <p:txBody>
          <a:bodyPr wrap="square">
            <a:spAutoFit/>
          </a:bodyPr>
          <a:lstStyle/>
          <a:p>
            <a:r>
              <a:rPr lang="en-US" sz="1400" dirty="0">
                <a:solidFill>
                  <a:schemeClr val="accent2">
                    <a:lumMod val="50000"/>
                  </a:schemeClr>
                </a:solidFill>
                <a:latin typeface="Abadi ExtraLight" panose="020B0204020104020204" pitchFamily="34" charset="0"/>
              </a:rPr>
              <a:t>Attrition by Job Role (Bar Chart)</a:t>
            </a:r>
          </a:p>
          <a:p>
            <a:r>
              <a:rPr lang="en-US" sz="1200" dirty="0">
                <a:latin typeface="Abadi ExtraLight" panose="020B0204020104020204" pitchFamily="34" charset="0"/>
              </a:rPr>
              <a:t>Shows attrition risk distribution across job roles.</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HR teams identify roles requiring targeted retention strategies.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Country Average Burnout (Map)</a:t>
            </a:r>
          </a:p>
          <a:p>
            <a:r>
              <a:rPr lang="en-US" sz="1200" dirty="0">
                <a:latin typeface="Abadi ExtraLight" panose="020B0204020104020204" pitchFamily="34" charset="0"/>
              </a:rPr>
              <a:t>Displays average burnout levels across different countries.</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Supports regional workforce analysis and wellbeing initiatives.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Job Role by Average AI Replacement % (Bar Chart)</a:t>
            </a:r>
          </a:p>
          <a:p>
            <a:r>
              <a:rPr lang="en-US" sz="1200" dirty="0">
                <a:latin typeface="Abadi ExtraLight" panose="020B0204020104020204" pitchFamily="34" charset="0"/>
              </a:rPr>
              <a:t>Shows the average percentage of tasks employees believe AI can replace within each job role.</a:t>
            </a:r>
          </a:p>
          <a:p>
            <a:r>
              <a:rPr lang="en-US" sz="1200" dirty="0">
                <a:solidFill>
                  <a:schemeClr val="accent2">
                    <a:lumMod val="50000"/>
                  </a:schemeClr>
                </a:solidFill>
                <a:latin typeface="Abadi ExtraLight" panose="020B0204020104020204" pitchFamily="34" charset="0"/>
              </a:rPr>
              <a:t>Business Use</a:t>
            </a:r>
            <a:r>
              <a:rPr lang="en-US" sz="1200" b="1" dirty="0">
                <a:latin typeface="Abadi ExtraLight" panose="020B0204020104020204" pitchFamily="34" charset="0"/>
              </a:rPr>
              <a:t>:</a:t>
            </a:r>
            <a:r>
              <a:rPr lang="en-US" sz="1200" dirty="0">
                <a:latin typeface="Abadi ExtraLight" panose="020B0204020104020204" pitchFamily="34" charset="0"/>
              </a:rPr>
              <a:t> Helps organizations understand which roles feel most impacted by AI adoption</a:t>
            </a:r>
            <a:r>
              <a:rPr lang="en-US" sz="1400" dirty="0">
                <a:latin typeface="Abadi ExtraLight" panose="020B0204020104020204" pitchFamily="34" charset="0"/>
              </a:rPr>
              <a:t>.</a:t>
            </a:r>
          </a:p>
        </p:txBody>
      </p:sp>
    </p:spTree>
    <p:extLst>
      <p:ext uri="{BB962C8B-B14F-4D97-AF65-F5344CB8AC3E}">
        <p14:creationId xmlns:p14="http://schemas.microsoft.com/office/powerpoint/2010/main" val="1710650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EAAF9-765D-CF6C-AA3D-FE6F59BE60D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4E7A4FC-AFD0-5173-8B63-1CB080495496}"/>
              </a:ext>
            </a:extLst>
          </p:cNvPr>
          <p:cNvSpPr txBox="1"/>
          <p:nvPr/>
        </p:nvSpPr>
        <p:spPr>
          <a:xfrm>
            <a:off x="751768" y="488915"/>
            <a:ext cx="5379002" cy="6124754"/>
          </a:xfrm>
          <a:prstGeom prst="rect">
            <a:avLst/>
          </a:prstGeom>
          <a:noFill/>
        </p:spPr>
        <p:txBody>
          <a:bodyPr wrap="square">
            <a:spAutoFit/>
          </a:bodyPr>
          <a:lstStyle/>
          <a:p>
            <a:r>
              <a:rPr lang="en-US" sz="2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AI Workforce Analytics Dashboard</a:t>
            </a:r>
          </a:p>
          <a:p>
            <a:endParaRPr lang="en-US" sz="1400" b="1"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Dashboard Purpose</a:t>
            </a:r>
          </a:p>
          <a:p>
            <a:r>
              <a:rPr lang="en-US" sz="1200" dirty="0">
                <a:latin typeface="Abadi ExtraLight" panose="020B0204020104020204" pitchFamily="34" charset="0"/>
              </a:rPr>
              <a:t>This dashboard analyzes the impact of AI adoption on employees across industries, job roles, company sizes, and work environments. It focuses on burnout, productivity, job satisfaction, AI fear, and perceived AI replacement to support workforce planning and business decision-making.</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KPI Cards</a:t>
            </a:r>
          </a:p>
          <a:p>
            <a:r>
              <a:rPr lang="en-US" sz="1200" dirty="0">
                <a:latin typeface="Abadi ExtraLight" panose="020B0204020104020204" pitchFamily="34" charset="0"/>
              </a:rPr>
              <a:t>Displays key workforce indicators including AI Fear %, Average Satisfaction, Average Productivity, Average AI Replacement %, and Average Burnout.</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Provides a quick overview of employee wellbeing, workforce performance, and AI-related concerns.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AI Fear by Industry (Bar Chart)</a:t>
            </a:r>
          </a:p>
          <a:p>
            <a:r>
              <a:rPr lang="en-US" sz="1200" dirty="0">
                <a:latin typeface="Abadi ExtraLight" panose="020B0204020104020204" pitchFamily="34" charset="0"/>
              </a:rPr>
              <a:t>Shows the percentage of employees concerned about AI replacement across different industries.</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organizations identify industries where employees have higher concerns about AI adoption and automation.</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AI Adoption Stage Distribution (Donut Chart)</a:t>
            </a:r>
          </a:p>
          <a:p>
            <a:r>
              <a:rPr lang="en-US" sz="1200" dirty="0">
                <a:latin typeface="Abadi ExtraLight" panose="020B0204020104020204" pitchFamily="34" charset="0"/>
              </a:rPr>
              <a:t>Displays the distribution of organizations across AI adoption stages such as Experimenting, Integrating, and Optimizing.</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businesses measure AI maturity and monitor digital transformation progress.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Remote Work Type vs AI Fear (Bar Chart)</a:t>
            </a:r>
          </a:p>
          <a:p>
            <a:r>
              <a:rPr lang="en-US" sz="1200" dirty="0">
                <a:latin typeface="Abadi ExtraLight" panose="020B0204020104020204" pitchFamily="34" charset="0"/>
              </a:rPr>
              <a:t>Compares AI fear levels among On-site, Fully Remote, and Hybrid employees.</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organizations understand how different work environments influence employee perceptions of AI.</a:t>
            </a:r>
          </a:p>
        </p:txBody>
      </p:sp>
      <p:cxnSp>
        <p:nvCxnSpPr>
          <p:cNvPr id="8" name="Straight Connector 7">
            <a:extLst>
              <a:ext uri="{FF2B5EF4-FFF2-40B4-BE49-F238E27FC236}">
                <a16:creationId xmlns:a16="http://schemas.microsoft.com/office/drawing/2014/main" id="{AF03EF10-1A8C-1A41-C389-9762219FE39E}"/>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CF759E0-EAB6-0BFA-437B-BFA248813E92}"/>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419FA80-8D4E-90A0-AF93-257830464EB0}"/>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4799312-8A70-DB8C-C244-C26C3705E239}"/>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C2E7002-8655-4BA5-183D-56D220D86833}"/>
              </a:ext>
            </a:extLst>
          </p:cNvPr>
          <p:cNvSpPr txBox="1"/>
          <p:nvPr/>
        </p:nvSpPr>
        <p:spPr>
          <a:xfrm>
            <a:off x="6130770" y="3333770"/>
            <a:ext cx="5664198" cy="3016210"/>
          </a:xfrm>
          <a:prstGeom prst="rect">
            <a:avLst/>
          </a:prstGeom>
          <a:noFill/>
        </p:spPr>
        <p:txBody>
          <a:bodyPr wrap="square">
            <a:spAutoFit/>
          </a:bodyPr>
          <a:lstStyle/>
          <a:p>
            <a:r>
              <a:rPr lang="en-US" sz="1400" dirty="0">
                <a:solidFill>
                  <a:schemeClr val="accent2">
                    <a:lumMod val="50000"/>
                  </a:schemeClr>
                </a:solidFill>
                <a:latin typeface="Abadi ExtraLight" panose="020B0204020104020204" pitchFamily="34" charset="0"/>
              </a:rPr>
              <a:t>Burnout vs Productivity Chart (Bubble Chart)</a:t>
            </a:r>
          </a:p>
          <a:p>
            <a:r>
              <a:rPr lang="en-US" sz="1200" dirty="0">
                <a:latin typeface="Abadi ExtraLight" panose="020B0204020104020204" pitchFamily="34" charset="0"/>
              </a:rPr>
              <a:t>Shows the relationship between employee burnout, productivity, and attrition risk levels.</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identify workforce groups experiencing high burnout and supports employee wellbeing initiatives.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AI Adoption Stage by Company Size (Clustered Bar Chart)</a:t>
            </a:r>
          </a:p>
          <a:p>
            <a:r>
              <a:rPr lang="en-US" sz="1200" dirty="0">
                <a:latin typeface="Abadi ExtraLight" panose="020B0204020104020204" pitchFamily="34" charset="0"/>
              </a:rPr>
              <a:t>Displays AI adoption stages across different company sizes including startups, small, mid-size, large, and enterprise organizations.</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compare AI implementation strategies and readiness across organizations of different sizes.</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Job Role by Average AI Replacement % (Bar Chart)</a:t>
            </a:r>
          </a:p>
          <a:p>
            <a:r>
              <a:rPr lang="en-US" sz="1200" dirty="0">
                <a:latin typeface="Abadi ExtraLight" panose="020B0204020104020204" pitchFamily="34" charset="0"/>
              </a:rPr>
              <a:t>Shows the average percentage of tasks employees believe AI can replace for each job role.</a:t>
            </a:r>
          </a:p>
          <a:p>
            <a:r>
              <a:rPr lang="en-US" sz="1200" dirty="0">
                <a:solidFill>
                  <a:schemeClr val="accent2">
                    <a:lumMod val="50000"/>
                  </a:schemeClr>
                </a:solidFill>
                <a:latin typeface="Abadi ExtraLight" panose="020B0204020104020204" pitchFamily="34" charset="0"/>
              </a:rPr>
              <a:t>Business Use: </a:t>
            </a:r>
            <a:r>
              <a:rPr lang="en-US" sz="1200" dirty="0">
                <a:latin typeface="Abadi ExtraLight" panose="020B0204020104020204" pitchFamily="34" charset="0"/>
              </a:rPr>
              <a:t>Helps organizations identify roles most affected by automation and supports workforce reskilling plans.</a:t>
            </a:r>
          </a:p>
        </p:txBody>
      </p:sp>
      <p:pic>
        <p:nvPicPr>
          <p:cNvPr id="4" name="Picture 3">
            <a:extLst>
              <a:ext uri="{FF2B5EF4-FFF2-40B4-BE49-F238E27FC236}">
                <a16:creationId xmlns:a16="http://schemas.microsoft.com/office/drawing/2014/main" id="{FC6DE918-CF5B-D649-B9A3-EB7A9256331C}"/>
              </a:ext>
            </a:extLst>
          </p:cNvPr>
          <p:cNvPicPr>
            <a:picLocks noChangeAspect="1"/>
          </p:cNvPicPr>
          <p:nvPr/>
        </p:nvPicPr>
        <p:blipFill>
          <a:blip r:embed="rId3"/>
          <a:stretch>
            <a:fillRect/>
          </a:stretch>
        </p:blipFill>
        <p:spPr>
          <a:xfrm>
            <a:off x="6216098" y="587395"/>
            <a:ext cx="5379002" cy="2587912"/>
          </a:xfrm>
          <a:prstGeom prst="rect">
            <a:avLst/>
          </a:prstGeom>
          <a:ln>
            <a:noFill/>
          </a:ln>
          <a:effectLst>
            <a:softEdge rad="112500"/>
          </a:effectLst>
        </p:spPr>
      </p:pic>
    </p:spTree>
    <p:extLst>
      <p:ext uri="{BB962C8B-B14F-4D97-AF65-F5344CB8AC3E}">
        <p14:creationId xmlns:p14="http://schemas.microsoft.com/office/powerpoint/2010/main" val="611415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61B8-AED0-E240-B15F-D7D1243E9BE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574AA3A-EBF8-FE65-1D04-F02A0863ADC4}"/>
              </a:ext>
            </a:extLst>
          </p:cNvPr>
          <p:cNvSpPr txBox="1"/>
          <p:nvPr/>
        </p:nvSpPr>
        <p:spPr>
          <a:xfrm>
            <a:off x="974726" y="806420"/>
            <a:ext cx="5785402" cy="5324535"/>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Prediction Model Preparation</a:t>
            </a:r>
          </a:p>
          <a:p>
            <a:endPar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endParaRPr lang="en-US" sz="1400" dirty="0">
              <a:latin typeface="Abadi ExtraLight" panose="020B0204020104020204" pitchFamily="34" charset="0"/>
            </a:endParaRPr>
          </a:p>
          <a:p>
            <a:pPr marL="285750" indent="-285750">
              <a:buFont typeface="Courier New" panose="02070309020205020404" pitchFamily="49" charset="0"/>
              <a:buChar char="o"/>
            </a:pPr>
            <a:r>
              <a:rPr lang="en-US" sz="1400" dirty="0">
                <a:latin typeface="Abadi ExtraLight" panose="020B0204020104020204" pitchFamily="34" charset="0"/>
              </a:rPr>
              <a:t>Target Variable: Employee Attrition Risk (Low, Medium, High)</a:t>
            </a:r>
          </a:p>
          <a:p>
            <a:pPr marL="285750" indent="-285750">
              <a:buFont typeface="Courier New" panose="02070309020205020404" pitchFamily="49" charset="0"/>
              <a:buChar char="o"/>
            </a:pPr>
            <a:r>
              <a:rPr lang="en-US" sz="1400" dirty="0">
                <a:latin typeface="Abadi ExtraLight" panose="020B0204020104020204" pitchFamily="34" charset="0"/>
              </a:rPr>
              <a:t>Data Encoding: Converted categorical variables into numerical values</a:t>
            </a:r>
          </a:p>
          <a:p>
            <a:pPr marL="285750" indent="-285750">
              <a:buFont typeface="Courier New" panose="02070309020205020404" pitchFamily="49" charset="0"/>
              <a:buChar char="o"/>
            </a:pPr>
            <a:r>
              <a:rPr lang="en-US" sz="1400" dirty="0">
                <a:latin typeface="Abadi ExtraLight" panose="020B0204020104020204" pitchFamily="34" charset="0"/>
              </a:rPr>
              <a:t>Feature Selection: Burnout, Productivity, Satisfaction, Salary, Industry, AI-related factors, etc.</a:t>
            </a:r>
          </a:p>
          <a:p>
            <a:pPr marL="285750" indent="-285750">
              <a:buFont typeface="Courier New" panose="02070309020205020404" pitchFamily="49" charset="0"/>
              <a:buChar char="o"/>
            </a:pPr>
            <a:r>
              <a:rPr lang="en-US" sz="1400" dirty="0">
                <a:latin typeface="Abadi ExtraLight" panose="020B0204020104020204" pitchFamily="34" charset="0"/>
              </a:rPr>
              <a:t>Data Split: 80% Training, 20% Testing</a:t>
            </a:r>
          </a:p>
          <a:p>
            <a:pPr marL="285750" indent="-285750">
              <a:buFont typeface="Courier New" panose="02070309020205020404" pitchFamily="49" charset="0"/>
              <a:buChar char="o"/>
            </a:pPr>
            <a:r>
              <a:rPr lang="en-US" sz="1400" dirty="0">
                <a:latin typeface="Abadi ExtraLight" panose="020B0204020104020204" pitchFamily="34" charset="0"/>
              </a:rPr>
              <a:t>Models Used: Logistic Regression &amp; Random Forest</a:t>
            </a:r>
          </a:p>
          <a:p>
            <a:pPr marL="285750" indent="-285750">
              <a:buFont typeface="Courier New" panose="02070309020205020404" pitchFamily="49" charset="0"/>
              <a:buChar char="o"/>
            </a:pPr>
            <a:r>
              <a:rPr lang="en-US" sz="1400" dirty="0">
                <a:latin typeface="Abadi ExtraLight" panose="020B0204020104020204" pitchFamily="34" charset="0"/>
              </a:rPr>
              <a:t>Evaluation: Accuracy, Precision, Recall, F1-Score, and Confusion Matrix</a:t>
            </a:r>
          </a:p>
          <a:p>
            <a:endParaRPr lang="en-US" sz="14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Outcome: </a:t>
            </a:r>
            <a:r>
              <a:rPr lang="en-US" sz="1400" dirty="0">
                <a:latin typeface="Abadi ExtraLight" panose="020B0204020104020204" pitchFamily="34" charset="0"/>
              </a:rPr>
              <a:t>Prepared and optimized the dataset for employee attrition prediction.</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Logistic Regression</a:t>
            </a:r>
          </a:p>
          <a:p>
            <a:r>
              <a:rPr lang="en-US" sz="1400" dirty="0">
                <a:latin typeface="Abadi ExtraLight" panose="020B0204020104020204" pitchFamily="34" charset="0"/>
              </a:rPr>
              <a:t>Classification algorithm used to predict employee attrition risk.</a:t>
            </a:r>
          </a:p>
          <a:p>
            <a:r>
              <a:rPr lang="en-US" sz="1400" dirty="0">
                <a:latin typeface="Abadi ExtraLight" panose="020B0204020104020204" pitchFamily="34" charset="0"/>
              </a:rPr>
              <a:t>Provides clear and interpretable results.</a:t>
            </a:r>
          </a:p>
          <a:p>
            <a:r>
              <a:rPr lang="en-US" sz="1400" dirty="0">
                <a:latin typeface="Abadi ExtraLight" panose="020B0204020104020204" pitchFamily="34" charset="0"/>
              </a:rPr>
              <a:t>Serves as a baseline model for comparison.</a:t>
            </a:r>
          </a:p>
          <a:p>
            <a:endParaRPr lang="en-US" sz="1400" dirty="0">
              <a:latin typeface="Abadi ExtraLight" panose="020B0204020104020204" pitchFamily="34" charset="0"/>
            </a:endParaRPr>
          </a:p>
          <a:p>
            <a:r>
              <a:rPr lang="en-US" sz="1600" dirty="0">
                <a:solidFill>
                  <a:schemeClr val="accent2">
                    <a:lumMod val="50000"/>
                  </a:schemeClr>
                </a:solidFill>
                <a:latin typeface="Abadi ExtraLight" panose="020B0204020104020204" pitchFamily="34" charset="0"/>
              </a:rPr>
              <a:t>Random Forest</a:t>
            </a:r>
          </a:p>
          <a:p>
            <a:r>
              <a:rPr lang="en-US" sz="1400" dirty="0">
                <a:latin typeface="Abadi ExtraLight" panose="020B0204020104020204" pitchFamily="34" charset="0"/>
              </a:rPr>
              <a:t>Ensemble algorithm that combines multiple decision trees.</a:t>
            </a:r>
          </a:p>
          <a:p>
            <a:r>
              <a:rPr lang="en-US" sz="1400" dirty="0">
                <a:latin typeface="Abadi ExtraLight" panose="020B0204020104020204" pitchFamily="34" charset="0"/>
              </a:rPr>
              <a:t>Captures complex patterns in employee behavior.</a:t>
            </a:r>
          </a:p>
          <a:p>
            <a:r>
              <a:rPr lang="en-US" sz="1400" dirty="0">
                <a:latin typeface="Abadi ExtraLight" panose="020B0204020104020204" pitchFamily="34" charset="0"/>
              </a:rPr>
              <a:t>Provides higher prediction accuracy and better performance.</a:t>
            </a:r>
          </a:p>
        </p:txBody>
      </p:sp>
      <p:cxnSp>
        <p:nvCxnSpPr>
          <p:cNvPr id="8" name="Straight Connector 7">
            <a:extLst>
              <a:ext uri="{FF2B5EF4-FFF2-40B4-BE49-F238E27FC236}">
                <a16:creationId xmlns:a16="http://schemas.microsoft.com/office/drawing/2014/main" id="{0BB76B9A-7A33-04BB-2516-5CEAEBBDF3E9}"/>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E3E355A1-FC85-AB73-4160-19F2A983B478}"/>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3607A82-5BFA-489A-CAAA-C7AE108C5A03}"/>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78B7C1A-C33C-6135-0DED-23C90B8F0444}"/>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88A555F3-C700-E3D6-D789-D8E881C74759}"/>
              </a:ext>
            </a:extLst>
          </p:cNvPr>
          <p:cNvPicPr>
            <a:picLocks noChangeAspect="1"/>
          </p:cNvPicPr>
          <p:nvPr/>
        </p:nvPicPr>
        <p:blipFill>
          <a:blip r:embed="rId3"/>
          <a:stretch>
            <a:fillRect/>
          </a:stretch>
        </p:blipFill>
        <p:spPr>
          <a:xfrm>
            <a:off x="7077076" y="1779587"/>
            <a:ext cx="4425949" cy="27352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26154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4835-FB96-1BAE-CB4A-35D222EC5D4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044FFE0-0A12-8C81-9D8E-95C6AECF20D3}"/>
              </a:ext>
            </a:extLst>
          </p:cNvPr>
          <p:cNvSpPr txBox="1"/>
          <p:nvPr/>
        </p:nvSpPr>
        <p:spPr>
          <a:xfrm>
            <a:off x="825505" y="414258"/>
            <a:ext cx="5330821" cy="6124754"/>
          </a:xfrm>
          <a:prstGeom prst="rect">
            <a:avLst/>
          </a:prstGeom>
          <a:noFill/>
        </p:spPr>
        <p:txBody>
          <a:bodyPr wrap="square">
            <a:spAutoFit/>
          </a:bodyPr>
          <a:lstStyle/>
          <a:p>
            <a:r>
              <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Model Comparison </a:t>
            </a:r>
          </a:p>
          <a:p>
            <a:endPar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endPar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endPar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endParaRPr lang="en-US" sz="28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endParaRPr lang="en-US" sz="1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endParaRPr>
          </a:p>
          <a:p>
            <a:endParaRPr lang="en-US" sz="1400" dirty="0">
              <a:solidFill>
                <a:schemeClr val="accent2">
                  <a:lumMod val="50000"/>
                </a:schemeClr>
              </a:solidFill>
              <a:latin typeface="Abadi ExtraLight" panose="020B0204020104020204" pitchFamily="34" charset="0"/>
            </a:endParaRPr>
          </a:p>
          <a:p>
            <a:endParaRPr lang="en-US" sz="1400" dirty="0">
              <a:solidFill>
                <a:schemeClr val="accent2">
                  <a:lumMod val="50000"/>
                </a:schemeClr>
              </a:solidFill>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Logistic Regression</a:t>
            </a:r>
          </a:p>
          <a:p>
            <a:pPr marL="171450" indent="-171450">
              <a:buFont typeface="Courier New" panose="02070309020205020404" pitchFamily="49" charset="0"/>
              <a:buChar char="o"/>
            </a:pPr>
            <a:r>
              <a:rPr lang="en-US" sz="1200" dirty="0">
                <a:latin typeface="Abadi ExtraLight" panose="020B0204020104020204" pitchFamily="34" charset="0"/>
              </a:rPr>
              <a:t>Achieved 80% accuracy in predicting employee attrition risk. </a:t>
            </a:r>
          </a:p>
          <a:p>
            <a:pPr marL="171450" indent="-171450">
              <a:buFont typeface="Courier New" panose="02070309020205020404" pitchFamily="49" charset="0"/>
              <a:buChar char="o"/>
            </a:pPr>
            <a:r>
              <a:rPr lang="en-US" sz="1200" dirty="0">
                <a:latin typeface="Abadi ExtraLight" panose="020B0204020104020204" pitchFamily="34" charset="0"/>
              </a:rPr>
              <a:t>ROC-AUC score of 0.93, indicating strong classification performance. </a:t>
            </a:r>
          </a:p>
          <a:p>
            <a:pPr marL="171450" indent="-171450">
              <a:buFont typeface="Courier New" panose="02070309020205020404" pitchFamily="49" charset="0"/>
              <a:buChar char="o"/>
            </a:pPr>
            <a:r>
              <a:rPr lang="en-US" sz="1200" dirty="0">
                <a:latin typeface="Abadi ExtraLight" panose="020B0204020104020204" pitchFamily="34" charset="0"/>
              </a:rPr>
              <a:t>Performed well in identifying Medium and Low attrition risk employees. </a:t>
            </a:r>
          </a:p>
          <a:p>
            <a:pPr marL="171450" indent="-171450">
              <a:buFont typeface="Courier New" panose="02070309020205020404" pitchFamily="49" charset="0"/>
              <a:buChar char="o"/>
            </a:pPr>
            <a:r>
              <a:rPr lang="en-US" sz="1200" dirty="0">
                <a:latin typeface="Abadi ExtraLight" panose="020B0204020104020204" pitchFamily="34" charset="0"/>
              </a:rPr>
              <a:t>Provides interpretable results, making it easier to understand the impact of workforce factors on attrition. </a:t>
            </a:r>
          </a:p>
          <a:p>
            <a:endParaRPr lang="en-US" sz="12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Random Forest</a:t>
            </a:r>
          </a:p>
          <a:p>
            <a:pPr marL="171450" indent="-171450">
              <a:buFont typeface="Courier New" panose="02070309020205020404" pitchFamily="49" charset="0"/>
              <a:buChar char="o"/>
            </a:pPr>
            <a:r>
              <a:rPr lang="en-US" sz="1200" dirty="0">
                <a:latin typeface="Abadi ExtraLight" panose="020B0204020104020204" pitchFamily="34" charset="0"/>
              </a:rPr>
              <a:t>Achieved 87% accuracy, outperforming Logistic Regression. </a:t>
            </a:r>
          </a:p>
          <a:p>
            <a:pPr marL="171450" indent="-171450">
              <a:buFont typeface="Courier New" panose="02070309020205020404" pitchFamily="49" charset="0"/>
              <a:buChar char="o"/>
            </a:pPr>
            <a:r>
              <a:rPr lang="en-US" sz="1200" dirty="0">
                <a:latin typeface="Abadi ExtraLight" panose="020B0204020104020204" pitchFamily="34" charset="0"/>
              </a:rPr>
              <a:t>ROC-AUC score of 0.97, showing excellent predictive capability. </a:t>
            </a:r>
          </a:p>
          <a:p>
            <a:pPr marL="171450" indent="-171450">
              <a:buFont typeface="Courier New" panose="02070309020205020404" pitchFamily="49" charset="0"/>
              <a:buChar char="o"/>
            </a:pPr>
            <a:r>
              <a:rPr lang="en-US" sz="1200" dirty="0">
                <a:latin typeface="Abadi ExtraLight" panose="020B0204020104020204" pitchFamily="34" charset="0"/>
              </a:rPr>
              <a:t>Higher precision, recall, and F1-scores across most attrition categories. </a:t>
            </a:r>
          </a:p>
          <a:p>
            <a:pPr marL="171450" indent="-171450">
              <a:buFont typeface="Courier New" panose="02070309020205020404" pitchFamily="49" charset="0"/>
              <a:buChar char="o"/>
            </a:pPr>
            <a:r>
              <a:rPr lang="en-US" sz="1200" dirty="0">
                <a:latin typeface="Abadi ExtraLight" panose="020B0204020104020204" pitchFamily="34" charset="0"/>
              </a:rPr>
              <a:t>Better at capturing complex relationships between burnout, satisfaction, productivity, salary, and AI-related factors. </a:t>
            </a:r>
          </a:p>
          <a:p>
            <a:endParaRPr lang="en-US" sz="1200" dirty="0">
              <a:latin typeface="Abadi ExtraLight" panose="020B0204020104020204" pitchFamily="34" charset="0"/>
            </a:endParaRPr>
          </a:p>
          <a:p>
            <a:r>
              <a:rPr lang="en-US" sz="1400" dirty="0">
                <a:solidFill>
                  <a:schemeClr val="accent2">
                    <a:lumMod val="50000"/>
                  </a:schemeClr>
                </a:solidFill>
                <a:latin typeface="Abadi ExtraLight" panose="020B0204020104020204" pitchFamily="34" charset="0"/>
              </a:rPr>
              <a:t>Conclusion</a:t>
            </a:r>
          </a:p>
          <a:p>
            <a:r>
              <a:rPr lang="en-US" sz="1200" dirty="0">
                <a:latin typeface="Abadi ExtraLight" panose="020B0204020104020204" pitchFamily="34" charset="0"/>
              </a:rPr>
              <a:t>Random Forest was the best-performing model with higher accuracy and stronger overall classification performance. </a:t>
            </a:r>
          </a:p>
        </p:txBody>
      </p:sp>
      <p:cxnSp>
        <p:nvCxnSpPr>
          <p:cNvPr id="8" name="Straight Connector 7">
            <a:extLst>
              <a:ext uri="{FF2B5EF4-FFF2-40B4-BE49-F238E27FC236}">
                <a16:creationId xmlns:a16="http://schemas.microsoft.com/office/drawing/2014/main" id="{75DF5C0B-8B72-D25E-E9D3-82CF818916D7}"/>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3A02A4C-B2F9-48BB-AA69-2BE39C9E9D4E}"/>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F63BF46-2447-133F-B7DE-35AE12022B2B}"/>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3F2AB04-5BD0-7548-4505-FD161497A128}"/>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B53C5F41-6F00-1586-8DD5-16E646F34855}"/>
              </a:ext>
            </a:extLst>
          </p:cNvPr>
          <p:cNvPicPr>
            <a:picLocks noChangeAspect="1"/>
          </p:cNvPicPr>
          <p:nvPr/>
        </p:nvPicPr>
        <p:blipFill>
          <a:blip r:embed="rId3"/>
          <a:srcRect l="7787" t="6249" r="6340" b="17213"/>
          <a:stretch>
            <a:fillRect/>
          </a:stretch>
        </p:blipFill>
        <p:spPr>
          <a:xfrm>
            <a:off x="6442076" y="1082644"/>
            <a:ext cx="5153024" cy="2216209"/>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DA63F1BB-4908-99ED-F8BF-C182D4B9D678}"/>
              </a:ext>
            </a:extLst>
          </p:cNvPr>
          <p:cNvPicPr>
            <a:picLocks noChangeAspect="1"/>
          </p:cNvPicPr>
          <p:nvPr/>
        </p:nvPicPr>
        <p:blipFill>
          <a:blip r:embed="rId4"/>
          <a:srcRect l="820" t="7939" r="4269" b="13757"/>
          <a:stretch>
            <a:fillRect/>
          </a:stretch>
        </p:blipFill>
        <p:spPr>
          <a:xfrm>
            <a:off x="6442076" y="3559148"/>
            <a:ext cx="5153025" cy="2051080"/>
          </a:xfrm>
          <a:prstGeom prst="rect">
            <a:avLst/>
          </a:prstGeom>
          <a:ln>
            <a:noFill/>
          </a:ln>
          <a:effectLst>
            <a:outerShdw blurRad="292100" dist="139700" dir="2700000" algn="tl" rotWithShape="0">
              <a:srgbClr val="333333">
                <a:alpha val="65000"/>
              </a:srgbClr>
            </a:outerShdw>
          </a:effectLst>
        </p:spPr>
      </p:pic>
      <p:graphicFrame>
        <p:nvGraphicFramePr>
          <p:cNvPr id="17" name="Table 16">
            <a:extLst>
              <a:ext uri="{FF2B5EF4-FFF2-40B4-BE49-F238E27FC236}">
                <a16:creationId xmlns:a16="http://schemas.microsoft.com/office/drawing/2014/main" id="{5074A799-41DB-F577-FF19-34FA07819689}"/>
              </a:ext>
            </a:extLst>
          </p:cNvPr>
          <p:cNvGraphicFramePr>
            <a:graphicFrameLocks noGrp="1"/>
          </p:cNvGraphicFramePr>
          <p:nvPr>
            <p:extLst>
              <p:ext uri="{D42A27DB-BD31-4B8C-83A1-F6EECF244321}">
                <p14:modId xmlns:p14="http://schemas.microsoft.com/office/powerpoint/2010/main" val="4125607582"/>
              </p:ext>
            </p:extLst>
          </p:nvPr>
        </p:nvGraphicFramePr>
        <p:xfrm>
          <a:off x="946150" y="1260444"/>
          <a:ext cx="4933949" cy="1667224"/>
        </p:xfrm>
        <a:graphic>
          <a:graphicData uri="http://schemas.openxmlformats.org/drawingml/2006/table">
            <a:tbl>
              <a:tblPr>
                <a:tableStyleId>{0E3FDE45-AF77-4B5C-9715-49D594BDF05E}</a:tableStyleId>
              </a:tblPr>
              <a:tblGrid>
                <a:gridCol w="1843927">
                  <a:extLst>
                    <a:ext uri="{9D8B030D-6E8A-4147-A177-3AD203B41FA5}">
                      <a16:colId xmlns:a16="http://schemas.microsoft.com/office/drawing/2014/main" val="1018487159"/>
                    </a:ext>
                  </a:extLst>
                </a:gridCol>
                <a:gridCol w="979587">
                  <a:extLst>
                    <a:ext uri="{9D8B030D-6E8A-4147-A177-3AD203B41FA5}">
                      <a16:colId xmlns:a16="http://schemas.microsoft.com/office/drawing/2014/main" val="2519809974"/>
                    </a:ext>
                  </a:extLst>
                </a:gridCol>
                <a:gridCol w="2110435">
                  <a:extLst>
                    <a:ext uri="{9D8B030D-6E8A-4147-A177-3AD203B41FA5}">
                      <a16:colId xmlns:a16="http://schemas.microsoft.com/office/drawing/2014/main" val="2692860882"/>
                    </a:ext>
                  </a:extLst>
                </a:gridCol>
              </a:tblGrid>
              <a:tr h="390506">
                <a:tc>
                  <a:txBody>
                    <a:bodyPr/>
                    <a:lstStyle/>
                    <a:p>
                      <a:pPr algn="ctr">
                        <a:buNone/>
                      </a:pPr>
                      <a:r>
                        <a:rPr lang="en-US" sz="1200" b="0">
                          <a:solidFill>
                            <a:schemeClr val="accent2">
                              <a:lumMod val="50000"/>
                            </a:schemeClr>
                          </a:solidFill>
                          <a:latin typeface="Abadi ExtraLight" panose="020B0204020104020204" pitchFamily="34" charset="0"/>
                        </a:rPr>
                        <a:t>Metric</a:t>
                      </a:r>
                      <a:endParaRPr lang="en-US" sz="1200" b="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lnT w="12700" cap="flat" cmpd="sng" algn="ctr">
                      <a:solidFill>
                        <a:schemeClr val="accent2">
                          <a:lumMod val="50000"/>
                        </a:schemeClr>
                      </a:solidFill>
                      <a:prstDash val="solid"/>
                      <a:round/>
                      <a:headEnd type="none" w="med" len="med"/>
                      <a:tailEnd type="none" w="med" len="med"/>
                    </a:lnT>
                  </a:tcPr>
                </a:tc>
                <a:tc>
                  <a:txBody>
                    <a:bodyPr/>
                    <a:lstStyle/>
                    <a:p>
                      <a:pPr algn="ctr">
                        <a:buNone/>
                      </a:pPr>
                      <a:r>
                        <a:rPr lang="en-US" sz="1200" b="0" dirty="0">
                          <a:solidFill>
                            <a:schemeClr val="accent2">
                              <a:lumMod val="50000"/>
                            </a:schemeClr>
                          </a:solidFill>
                          <a:latin typeface="Abadi ExtraLight" panose="020B0204020104020204" pitchFamily="34" charset="0"/>
                        </a:rPr>
                        <a:t>Logistic Regression</a:t>
                      </a:r>
                      <a:endParaRPr lang="en-US" sz="1200" b="0" dirty="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lnT w="12700" cap="flat" cmpd="sng" algn="ctr">
                      <a:solidFill>
                        <a:schemeClr val="accent2">
                          <a:lumMod val="50000"/>
                        </a:schemeClr>
                      </a:solidFill>
                      <a:prstDash val="solid"/>
                      <a:round/>
                      <a:headEnd type="none" w="med" len="med"/>
                      <a:tailEnd type="none" w="med" len="med"/>
                    </a:lnT>
                  </a:tcPr>
                </a:tc>
                <a:tc>
                  <a:txBody>
                    <a:bodyPr/>
                    <a:lstStyle/>
                    <a:p>
                      <a:pPr algn="ctr">
                        <a:buNone/>
                      </a:pPr>
                      <a:r>
                        <a:rPr lang="en-US" sz="1200" b="0" dirty="0">
                          <a:solidFill>
                            <a:schemeClr val="accent2">
                              <a:lumMod val="50000"/>
                            </a:schemeClr>
                          </a:solidFill>
                          <a:latin typeface="Abadi ExtraLight" panose="020B0204020104020204" pitchFamily="34" charset="0"/>
                        </a:rPr>
                        <a:t>Random Forest</a:t>
                      </a:r>
                      <a:endParaRPr lang="en-US" sz="1200" b="0" dirty="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lnT w="12700" cap="flat" cmpd="sng" algn="ctr">
                      <a:solidFill>
                        <a:schemeClr val="accent2">
                          <a:lumMod val="50000"/>
                        </a:schemeClr>
                      </a:solidFill>
                      <a:prstDash val="solid"/>
                      <a:round/>
                      <a:headEnd type="none" w="med" len="med"/>
                      <a:tailEnd type="none" w="med" len="med"/>
                    </a:lnT>
                  </a:tcPr>
                </a:tc>
                <a:extLst>
                  <a:ext uri="{0D108BD9-81ED-4DB2-BD59-A6C34878D82A}">
                    <a16:rowId xmlns:a16="http://schemas.microsoft.com/office/drawing/2014/main" val="159595944"/>
                  </a:ext>
                </a:extLst>
              </a:tr>
              <a:tr h="302506">
                <a:tc>
                  <a:txBody>
                    <a:bodyPr/>
                    <a:lstStyle/>
                    <a:p>
                      <a:pPr algn="ctr">
                        <a:buNone/>
                      </a:pPr>
                      <a:r>
                        <a:rPr lang="en-US" sz="1200" b="0">
                          <a:solidFill>
                            <a:schemeClr val="accent2">
                              <a:lumMod val="50000"/>
                            </a:schemeClr>
                          </a:solidFill>
                          <a:latin typeface="Abadi ExtraLight" panose="020B0204020104020204" pitchFamily="34" charset="0"/>
                        </a:rPr>
                        <a:t>Accuracy</a:t>
                      </a:r>
                      <a:endParaRPr lang="en-US" sz="1200" b="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tc>
                <a:tc>
                  <a:txBody>
                    <a:bodyPr/>
                    <a:lstStyle/>
                    <a:p>
                      <a:pPr algn="ctr">
                        <a:buNone/>
                      </a:pPr>
                      <a:r>
                        <a:rPr lang="en-US" sz="1200" b="0" dirty="0">
                          <a:latin typeface="Abadi ExtraLight" panose="020B0204020104020204" pitchFamily="34" charset="0"/>
                        </a:rPr>
                        <a:t>80%</a:t>
                      </a:r>
                      <a:endParaRPr lang="en-US" sz="1200" b="0" dirty="0">
                        <a:latin typeface="Abadi ExtraLight" panose="020B0204020104020204" pitchFamily="34" charset="0"/>
                        <a:ea typeface="ADLaM Display" panose="02010000000000000000" pitchFamily="2" charset="0"/>
                        <a:cs typeface="ADLaM Display" panose="02010000000000000000" pitchFamily="2" charset="0"/>
                      </a:endParaRPr>
                    </a:p>
                  </a:txBody>
                  <a:tcPr anchor="ctr"/>
                </a:tc>
                <a:tc>
                  <a:txBody>
                    <a:bodyPr/>
                    <a:lstStyle/>
                    <a:p>
                      <a:pPr algn="ctr">
                        <a:buNone/>
                      </a:pPr>
                      <a:r>
                        <a:rPr lang="en-US" sz="1200" b="0">
                          <a:latin typeface="Abadi ExtraLight" panose="020B0204020104020204" pitchFamily="34" charset="0"/>
                        </a:rPr>
                        <a:t>87%</a:t>
                      </a:r>
                      <a:endParaRPr lang="en-US" sz="1200" b="0">
                        <a:latin typeface="Abadi ExtraLight" panose="020B0204020104020204" pitchFamily="34" charset="0"/>
                        <a:ea typeface="ADLaM Display" panose="02010000000000000000" pitchFamily="2" charset="0"/>
                        <a:cs typeface="ADLaM Display" panose="02010000000000000000" pitchFamily="2" charset="0"/>
                      </a:endParaRPr>
                    </a:p>
                  </a:txBody>
                  <a:tcPr anchor="ctr"/>
                </a:tc>
                <a:extLst>
                  <a:ext uri="{0D108BD9-81ED-4DB2-BD59-A6C34878D82A}">
                    <a16:rowId xmlns:a16="http://schemas.microsoft.com/office/drawing/2014/main" val="3865261293"/>
                  </a:ext>
                </a:extLst>
              </a:tr>
              <a:tr h="302506">
                <a:tc>
                  <a:txBody>
                    <a:bodyPr/>
                    <a:lstStyle/>
                    <a:p>
                      <a:pPr algn="ctr">
                        <a:buNone/>
                      </a:pPr>
                      <a:r>
                        <a:rPr lang="en-US" sz="1200" b="0">
                          <a:solidFill>
                            <a:schemeClr val="accent2">
                              <a:lumMod val="50000"/>
                            </a:schemeClr>
                          </a:solidFill>
                          <a:latin typeface="Abadi ExtraLight" panose="020B0204020104020204" pitchFamily="34" charset="0"/>
                        </a:rPr>
                        <a:t>ROC-AUC Score</a:t>
                      </a:r>
                      <a:endParaRPr lang="en-US" sz="1200" b="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tc>
                <a:tc>
                  <a:txBody>
                    <a:bodyPr/>
                    <a:lstStyle/>
                    <a:p>
                      <a:pPr algn="ctr">
                        <a:buNone/>
                      </a:pPr>
                      <a:r>
                        <a:rPr lang="en-US" sz="1200" b="0">
                          <a:latin typeface="Abadi ExtraLight" panose="020B0204020104020204" pitchFamily="34" charset="0"/>
                        </a:rPr>
                        <a:t>0.93</a:t>
                      </a:r>
                      <a:endParaRPr lang="en-US" sz="1200" b="0">
                        <a:latin typeface="Abadi ExtraLight" panose="020B0204020104020204" pitchFamily="34" charset="0"/>
                        <a:ea typeface="ADLaM Display" panose="02010000000000000000" pitchFamily="2" charset="0"/>
                        <a:cs typeface="ADLaM Display" panose="02010000000000000000" pitchFamily="2" charset="0"/>
                      </a:endParaRPr>
                    </a:p>
                  </a:txBody>
                  <a:tcPr anchor="ctr"/>
                </a:tc>
                <a:tc>
                  <a:txBody>
                    <a:bodyPr/>
                    <a:lstStyle/>
                    <a:p>
                      <a:pPr algn="ctr">
                        <a:buNone/>
                      </a:pPr>
                      <a:r>
                        <a:rPr lang="en-US" sz="1200" b="0">
                          <a:latin typeface="Abadi ExtraLight" panose="020B0204020104020204" pitchFamily="34" charset="0"/>
                        </a:rPr>
                        <a:t>0.97</a:t>
                      </a:r>
                      <a:endParaRPr lang="en-US" sz="1200" b="0">
                        <a:latin typeface="Abadi ExtraLight" panose="020B0204020104020204" pitchFamily="34" charset="0"/>
                        <a:ea typeface="ADLaM Display" panose="02010000000000000000" pitchFamily="2" charset="0"/>
                        <a:cs typeface="ADLaM Display" panose="02010000000000000000" pitchFamily="2" charset="0"/>
                      </a:endParaRPr>
                    </a:p>
                  </a:txBody>
                  <a:tcPr anchor="ctr"/>
                </a:tc>
                <a:extLst>
                  <a:ext uri="{0D108BD9-81ED-4DB2-BD59-A6C34878D82A}">
                    <a16:rowId xmlns:a16="http://schemas.microsoft.com/office/drawing/2014/main" val="1416005588"/>
                  </a:ext>
                </a:extLst>
              </a:tr>
              <a:tr h="302506">
                <a:tc>
                  <a:txBody>
                    <a:bodyPr/>
                    <a:lstStyle/>
                    <a:p>
                      <a:pPr algn="ctr">
                        <a:buNone/>
                      </a:pPr>
                      <a:r>
                        <a:rPr lang="en-US" sz="1200" b="0">
                          <a:solidFill>
                            <a:schemeClr val="accent2">
                              <a:lumMod val="50000"/>
                            </a:schemeClr>
                          </a:solidFill>
                          <a:latin typeface="Abadi ExtraLight" panose="020B0204020104020204" pitchFamily="34" charset="0"/>
                        </a:rPr>
                        <a:t>Weighted F1-Score</a:t>
                      </a:r>
                      <a:endParaRPr lang="en-US" sz="1200" b="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tc>
                <a:tc>
                  <a:txBody>
                    <a:bodyPr/>
                    <a:lstStyle/>
                    <a:p>
                      <a:pPr algn="ctr">
                        <a:buNone/>
                      </a:pPr>
                      <a:r>
                        <a:rPr lang="en-US" sz="1200" b="0">
                          <a:latin typeface="Abadi ExtraLight" panose="020B0204020104020204" pitchFamily="34" charset="0"/>
                        </a:rPr>
                        <a:t>0.79</a:t>
                      </a:r>
                      <a:endParaRPr lang="en-US" sz="1200" b="0">
                        <a:latin typeface="Abadi ExtraLight" panose="020B0204020104020204" pitchFamily="34" charset="0"/>
                        <a:ea typeface="ADLaM Display" panose="02010000000000000000" pitchFamily="2" charset="0"/>
                        <a:cs typeface="ADLaM Display" panose="02010000000000000000" pitchFamily="2" charset="0"/>
                      </a:endParaRPr>
                    </a:p>
                  </a:txBody>
                  <a:tcPr anchor="ctr"/>
                </a:tc>
                <a:tc>
                  <a:txBody>
                    <a:bodyPr/>
                    <a:lstStyle/>
                    <a:p>
                      <a:pPr algn="ctr">
                        <a:buNone/>
                      </a:pPr>
                      <a:r>
                        <a:rPr lang="en-US" sz="1200" b="0" dirty="0">
                          <a:latin typeface="Abadi ExtraLight" panose="020B0204020104020204" pitchFamily="34" charset="0"/>
                        </a:rPr>
                        <a:t>0.87</a:t>
                      </a:r>
                      <a:endParaRPr lang="en-US" sz="1200" b="0" dirty="0">
                        <a:latin typeface="Abadi ExtraLight" panose="020B0204020104020204" pitchFamily="34" charset="0"/>
                        <a:ea typeface="ADLaM Display" panose="02010000000000000000" pitchFamily="2" charset="0"/>
                        <a:cs typeface="ADLaM Display" panose="02010000000000000000" pitchFamily="2" charset="0"/>
                      </a:endParaRPr>
                    </a:p>
                  </a:txBody>
                  <a:tcPr anchor="ctr"/>
                </a:tc>
                <a:extLst>
                  <a:ext uri="{0D108BD9-81ED-4DB2-BD59-A6C34878D82A}">
                    <a16:rowId xmlns:a16="http://schemas.microsoft.com/office/drawing/2014/main" val="669104555"/>
                  </a:ext>
                </a:extLst>
              </a:tr>
              <a:tr h="302506">
                <a:tc>
                  <a:txBody>
                    <a:bodyPr/>
                    <a:lstStyle/>
                    <a:p>
                      <a:pPr algn="ctr">
                        <a:buNone/>
                      </a:pPr>
                      <a:r>
                        <a:rPr lang="en-US" sz="1200" b="0" dirty="0">
                          <a:solidFill>
                            <a:schemeClr val="accent2">
                              <a:lumMod val="50000"/>
                            </a:schemeClr>
                          </a:solidFill>
                          <a:latin typeface="Abadi ExtraLight" panose="020B0204020104020204" pitchFamily="34" charset="0"/>
                        </a:rPr>
                        <a:t>Prediction Performance</a:t>
                      </a:r>
                      <a:endParaRPr lang="en-US" sz="1200" b="0" dirty="0">
                        <a:solidFill>
                          <a:schemeClr val="accent2">
                            <a:lumMod val="50000"/>
                          </a:schemeClr>
                        </a:solidFill>
                        <a:latin typeface="Abadi ExtraLight" panose="020B0204020104020204" pitchFamily="34" charset="0"/>
                        <a:ea typeface="ADLaM Display" panose="02010000000000000000" pitchFamily="2" charset="0"/>
                        <a:cs typeface="ADLaM Display" panose="02010000000000000000" pitchFamily="2" charset="0"/>
                      </a:endParaRPr>
                    </a:p>
                  </a:txBody>
                  <a:tcPr anchor="ctr">
                    <a:lnB w="12700" cap="flat" cmpd="sng" algn="ctr">
                      <a:solidFill>
                        <a:schemeClr val="accent2">
                          <a:lumMod val="50000"/>
                        </a:schemeClr>
                      </a:solidFill>
                      <a:prstDash val="solid"/>
                      <a:round/>
                      <a:headEnd type="none" w="med" len="med"/>
                      <a:tailEnd type="none" w="med" len="med"/>
                    </a:lnB>
                  </a:tcPr>
                </a:tc>
                <a:tc>
                  <a:txBody>
                    <a:bodyPr/>
                    <a:lstStyle/>
                    <a:p>
                      <a:pPr algn="ctr">
                        <a:buNone/>
                      </a:pPr>
                      <a:r>
                        <a:rPr lang="en-US" sz="1200" b="0">
                          <a:latin typeface="Abadi ExtraLight" panose="020B0204020104020204" pitchFamily="34" charset="0"/>
                        </a:rPr>
                        <a:t>Good</a:t>
                      </a:r>
                      <a:endParaRPr lang="en-US" sz="1200" b="0">
                        <a:latin typeface="Abadi ExtraLight" panose="020B0204020104020204" pitchFamily="34" charset="0"/>
                        <a:ea typeface="ADLaM Display" panose="02010000000000000000" pitchFamily="2" charset="0"/>
                        <a:cs typeface="ADLaM Display" panose="02010000000000000000" pitchFamily="2" charset="0"/>
                      </a:endParaRPr>
                    </a:p>
                  </a:txBody>
                  <a:tcPr anchor="ctr">
                    <a:lnB w="12700" cap="flat" cmpd="sng" algn="ctr">
                      <a:solidFill>
                        <a:schemeClr val="accent2">
                          <a:lumMod val="50000"/>
                        </a:schemeClr>
                      </a:solidFill>
                      <a:prstDash val="solid"/>
                      <a:round/>
                      <a:headEnd type="none" w="med" len="med"/>
                      <a:tailEnd type="none" w="med" len="med"/>
                    </a:lnB>
                  </a:tcPr>
                </a:tc>
                <a:tc>
                  <a:txBody>
                    <a:bodyPr/>
                    <a:lstStyle/>
                    <a:p>
                      <a:pPr algn="ctr">
                        <a:buNone/>
                      </a:pPr>
                      <a:r>
                        <a:rPr lang="en-US" sz="1200" b="0" dirty="0">
                          <a:latin typeface="Abadi ExtraLight" panose="020B0204020104020204" pitchFamily="34" charset="0"/>
                        </a:rPr>
                        <a:t>Excellent</a:t>
                      </a:r>
                      <a:endParaRPr lang="en-US" sz="1200" b="0" dirty="0">
                        <a:latin typeface="Abadi ExtraLight" panose="020B0204020104020204" pitchFamily="34" charset="0"/>
                        <a:ea typeface="ADLaM Display" panose="02010000000000000000" pitchFamily="2" charset="0"/>
                        <a:cs typeface="ADLaM Display" panose="02010000000000000000" pitchFamily="2" charset="0"/>
                      </a:endParaRPr>
                    </a:p>
                  </a:txBody>
                  <a:tcPr anchor="ctr">
                    <a:lnB w="12700" cap="flat" cmpd="sng" algn="ctr">
                      <a:solidFill>
                        <a:schemeClr val="accent2">
                          <a:lumMod val="50000"/>
                        </a:schemeClr>
                      </a:solidFill>
                      <a:prstDash val="solid"/>
                      <a:round/>
                      <a:headEnd type="none" w="med" len="med"/>
                      <a:tailEnd type="none" w="med" len="med"/>
                    </a:lnB>
                  </a:tcPr>
                </a:tc>
                <a:extLst>
                  <a:ext uri="{0D108BD9-81ED-4DB2-BD59-A6C34878D82A}">
                    <a16:rowId xmlns:a16="http://schemas.microsoft.com/office/drawing/2014/main" val="391987363"/>
                  </a:ext>
                </a:extLst>
              </a:tr>
            </a:tbl>
          </a:graphicData>
        </a:graphic>
      </p:graphicFrame>
    </p:spTree>
    <p:extLst>
      <p:ext uri="{BB962C8B-B14F-4D97-AF65-F5344CB8AC3E}">
        <p14:creationId xmlns:p14="http://schemas.microsoft.com/office/powerpoint/2010/main" val="364127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4818A-7CD8-3351-8862-ADD08567CDF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1478A21-C9B9-BC7A-57E5-4E018322A554}"/>
              </a:ext>
            </a:extLst>
          </p:cNvPr>
          <p:cNvSpPr txBox="1"/>
          <p:nvPr/>
        </p:nvSpPr>
        <p:spPr>
          <a:xfrm>
            <a:off x="939805" y="791031"/>
            <a:ext cx="6686544" cy="5355312"/>
          </a:xfrm>
          <a:prstGeom prst="rect">
            <a:avLst/>
          </a:prstGeom>
          <a:noFill/>
        </p:spPr>
        <p:txBody>
          <a:bodyPr wrap="square">
            <a:spAutoFit/>
          </a:bodyPr>
          <a:lstStyle/>
          <a:p>
            <a:r>
              <a:rPr lang="en-US" sz="2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Overall Business Use</a:t>
            </a:r>
          </a:p>
          <a:p>
            <a:r>
              <a:rPr lang="en-US" sz="1400" dirty="0">
                <a:latin typeface="Abadi ExtraLight" panose="020B0204020104020204" pitchFamily="34" charset="0"/>
              </a:rPr>
              <a:t>Monitor employee wellbeing, productivity, and AI-related concerns through interactive dashboards. </a:t>
            </a:r>
          </a:p>
          <a:p>
            <a:r>
              <a:rPr lang="en-US" sz="1400" dirty="0">
                <a:latin typeface="Abadi ExtraLight" panose="020B0204020104020204" pitchFamily="34" charset="0"/>
              </a:rPr>
              <a:t>Predict employee attrition risk using machine learning models to support proactive retention strategies. </a:t>
            </a:r>
          </a:p>
          <a:p>
            <a:r>
              <a:rPr lang="en-US" sz="1400" dirty="0">
                <a:latin typeface="Abadi ExtraLight" panose="020B0204020104020204" pitchFamily="34" charset="0"/>
              </a:rPr>
              <a:t>Identify key factors influencing turnover, including burnout, job satisfaction, salary, and fear of AI replacement. </a:t>
            </a:r>
          </a:p>
          <a:p>
            <a:r>
              <a:rPr lang="en-US" sz="1400" dirty="0">
                <a:latin typeface="Abadi ExtraLight" panose="020B0204020104020204" pitchFamily="34" charset="0"/>
              </a:rPr>
              <a:t>Support workforce planning, employee engagement, and AI adoption initiatives. </a:t>
            </a:r>
          </a:p>
          <a:p>
            <a:r>
              <a:rPr lang="en-US" sz="1400" dirty="0">
                <a:latin typeface="Abadi ExtraLight" panose="020B0204020104020204" pitchFamily="34" charset="0"/>
              </a:rPr>
              <a:t>Enable data-driven HR decisions to improve retention and organizational performance. </a:t>
            </a:r>
          </a:p>
          <a:p>
            <a:br>
              <a:rPr lang="en-US" sz="1400" dirty="0">
                <a:latin typeface="Abadi ExtraLight" panose="020B0204020104020204" pitchFamily="34" charset="0"/>
              </a:rPr>
            </a:br>
            <a:endParaRPr lang="en-US" sz="1400" dirty="0">
              <a:latin typeface="Abadi ExtraLight" panose="020B0204020104020204" pitchFamily="34" charset="0"/>
            </a:endParaRPr>
          </a:p>
          <a:p>
            <a:r>
              <a:rPr lang="en-US" sz="2400" dirty="0">
                <a:solidFill>
                  <a:schemeClr val="accent2">
                    <a:lumMod val="50000"/>
                  </a:schemeClr>
                </a:solidFill>
                <a:effectLst>
                  <a:outerShdw blurRad="38100" dist="38100" dir="2700000" algn="tl">
                    <a:srgbClr val="000000">
                      <a:alpha val="43137"/>
                    </a:srgbClr>
                  </a:outerShdw>
                </a:effectLst>
                <a:latin typeface="Abadi ExtraLight" panose="020B0204020104020204" pitchFamily="34" charset="0"/>
              </a:rPr>
              <a:t>Overall Project Conclusion</a:t>
            </a:r>
          </a:p>
          <a:p>
            <a:r>
              <a:rPr lang="en-US" sz="1400" dirty="0">
                <a:latin typeface="Abadi ExtraLight" panose="020B0204020104020204" pitchFamily="34" charset="0"/>
              </a:rPr>
              <a:t>The project successfully combined Business Intelligence, Machine Learning, and Data Analytics to analyze employee attrition in AI-driven workplaces. </a:t>
            </a:r>
          </a:p>
          <a:p>
            <a:r>
              <a:rPr lang="en-US" sz="1400" dirty="0">
                <a:latin typeface="Abadi ExtraLight" panose="020B0204020104020204" pitchFamily="34" charset="0"/>
              </a:rPr>
              <a:t>Dashboard analysis revealed important relationships between burnout, productivity, job satisfaction, AI fear, and attrition risk. </a:t>
            </a:r>
          </a:p>
          <a:p>
            <a:r>
              <a:rPr lang="en-US" sz="1400" dirty="0">
                <a:latin typeface="Abadi ExtraLight" panose="020B0204020104020204" pitchFamily="34" charset="0"/>
              </a:rPr>
              <a:t>Predictive models accurately identified employees at different attrition risk levels, with Random Forest achieving the best performance (87% accuracy). </a:t>
            </a:r>
          </a:p>
          <a:p>
            <a:r>
              <a:rPr lang="en-US" sz="1400" dirty="0">
                <a:latin typeface="Abadi ExtraLight" panose="020B0204020104020204" pitchFamily="34" charset="0"/>
              </a:rPr>
              <a:t>The findings showed that burnout, low job satisfaction, and AI replacement concerns significantly influence employee retention. </a:t>
            </a:r>
          </a:p>
          <a:p>
            <a:r>
              <a:rPr lang="en-US" sz="1400" dirty="0">
                <a:latin typeface="Abadi ExtraLight" panose="020B0204020104020204" pitchFamily="34" charset="0"/>
              </a:rPr>
              <a:t>Overall, the project demonstrates how data analytics and AI techniques can help organizations improve workforce planning, employee wellbeing, and retention strategies through data-driven decision-making. </a:t>
            </a:r>
          </a:p>
        </p:txBody>
      </p:sp>
      <p:cxnSp>
        <p:nvCxnSpPr>
          <p:cNvPr id="8" name="Straight Connector 7">
            <a:extLst>
              <a:ext uri="{FF2B5EF4-FFF2-40B4-BE49-F238E27FC236}">
                <a16:creationId xmlns:a16="http://schemas.microsoft.com/office/drawing/2014/main" id="{F592885E-7D2A-8992-20DD-0B107D4C82A0}"/>
              </a:ext>
            </a:extLst>
          </p:cNvPr>
          <p:cNvCxnSpPr/>
          <p:nvPr/>
        </p:nvCxnSpPr>
        <p:spPr>
          <a:xfrm>
            <a:off x="59690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D15EEB3-7034-CC50-33FB-B7390E02AE23}"/>
              </a:ext>
            </a:extLst>
          </p:cNvPr>
          <p:cNvCxnSpPr>
            <a:cxnSpLocks/>
          </p:cNvCxnSpPr>
          <p:nvPr/>
        </p:nvCxnSpPr>
        <p:spPr>
          <a:xfrm flipH="1">
            <a:off x="730250" y="6692900"/>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76B1AE2-E2D0-CBF4-C19F-E42D3690B5C4}"/>
              </a:ext>
            </a:extLst>
          </p:cNvPr>
          <p:cNvCxnSpPr>
            <a:cxnSpLocks/>
          </p:cNvCxnSpPr>
          <p:nvPr/>
        </p:nvCxnSpPr>
        <p:spPr>
          <a:xfrm flipH="1">
            <a:off x="2806700" y="200025"/>
            <a:ext cx="8953500" cy="4445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9AC7F50-FA06-6B75-1022-CD78A2816079}"/>
              </a:ext>
            </a:extLst>
          </p:cNvPr>
          <p:cNvCxnSpPr/>
          <p:nvPr/>
        </p:nvCxnSpPr>
        <p:spPr>
          <a:xfrm>
            <a:off x="11880850" y="247650"/>
            <a:ext cx="0" cy="6362700"/>
          </a:xfrm>
          <a:prstGeom prst="line">
            <a:avLst/>
          </a:prstGeom>
          <a:ln w="38100">
            <a:solidFill>
              <a:schemeClr val="accent2">
                <a:lumMod val="50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6AC2BEA1-4B02-6DF8-4F22-46E8CE7603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9033" y="692150"/>
            <a:ext cx="3649133" cy="5473700"/>
          </a:xfrm>
          <a:prstGeom prst="rect">
            <a:avLst/>
          </a:prstGeom>
        </p:spPr>
      </p:pic>
    </p:spTree>
    <p:extLst>
      <p:ext uri="{BB962C8B-B14F-4D97-AF65-F5344CB8AC3E}">
        <p14:creationId xmlns:p14="http://schemas.microsoft.com/office/powerpoint/2010/main" val="367355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150</TotalTime>
  <Words>2846</Words>
  <Application>Microsoft Office PowerPoint</Application>
  <PresentationFormat>Widescreen</PresentationFormat>
  <Paragraphs>303</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Abadi ExtraLight</vt: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مريم لؤي محمد الحسيني</dc:creator>
  <cp:lastModifiedBy>مريم لؤي محمد الحسيني</cp:lastModifiedBy>
  <cp:revision>3</cp:revision>
  <dcterms:created xsi:type="dcterms:W3CDTF">2026-05-30T09:49:59Z</dcterms:created>
  <dcterms:modified xsi:type="dcterms:W3CDTF">2026-05-31T08:55:41Z</dcterms:modified>
</cp:coreProperties>
</file>